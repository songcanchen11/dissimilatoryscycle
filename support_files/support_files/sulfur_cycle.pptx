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8" r:id="rId2"/>
    <p:sldId id="269" r:id="rId3"/>
    <p:sldId id="270" r:id="rId4"/>
    <p:sldId id="273" r:id="rId5"/>
    <p:sldId id="271" r:id="rId6"/>
    <p:sldId id="272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386" userDrawn="1">
          <p15:clr>
            <a:srgbClr val="A4A3A4"/>
          </p15:clr>
        </p15:guide>
        <p15:guide id="3" orient="horz" pos="2659" userDrawn="1">
          <p15:clr>
            <a:srgbClr val="A4A3A4"/>
          </p15:clr>
        </p15:guide>
        <p15:guide id="4" pos="2819" userDrawn="1">
          <p15:clr>
            <a:srgbClr val="A4A3A4"/>
          </p15:clr>
        </p15:guide>
        <p15:guide id="5" pos="347" userDrawn="1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255" userDrawn="1">
          <p15:clr>
            <a:srgbClr val="A4A3A4"/>
          </p15:clr>
        </p15:guide>
        <p15:guide id="8" orient="horz" pos="890" userDrawn="1">
          <p15:clr>
            <a:srgbClr val="A4A3A4"/>
          </p15:clr>
        </p15:guide>
        <p15:guide id="9" pos="5246" userDrawn="1">
          <p15:clr>
            <a:srgbClr val="A4A3A4"/>
          </p15:clr>
        </p15:guide>
        <p15:guide id="10" pos="6040" userDrawn="1">
          <p15:clr>
            <a:srgbClr val="A4A3A4"/>
          </p15:clr>
        </p15:guide>
        <p15:guide id="11" pos="4634" userDrawn="1">
          <p15:clr>
            <a:srgbClr val="A4A3A4"/>
          </p15:clr>
        </p15:guide>
        <p15:guide id="13" pos="6834" userDrawn="1">
          <p15:clr>
            <a:srgbClr val="A4A3A4"/>
          </p15:clr>
        </p15:guide>
        <p15:guide id="14" orient="horz" pos="1752" userDrawn="1">
          <p15:clr>
            <a:srgbClr val="A4A3A4"/>
          </p15:clr>
        </p15:guide>
        <p15:guide id="15" orient="horz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89"/>
    <p:restoredTop sz="94674"/>
  </p:normalViewPr>
  <p:slideViewPr>
    <p:cSldViewPr snapToGrid="0" snapToObjects="1" showGuides="1">
      <p:cViewPr>
        <p:scale>
          <a:sx n="64" d="100"/>
          <a:sy n="64" d="100"/>
        </p:scale>
        <p:origin x="2296" y="576"/>
      </p:cViewPr>
      <p:guideLst>
        <p:guide orient="horz" pos="640"/>
        <p:guide pos="3386"/>
        <p:guide orient="horz" pos="2659"/>
        <p:guide pos="2819"/>
        <p:guide pos="347"/>
        <p:guide orient="horz" pos="686"/>
        <p:guide orient="horz" pos="255"/>
        <p:guide orient="horz" pos="890"/>
        <p:guide pos="5246"/>
        <p:guide pos="6040"/>
        <p:guide pos="4634"/>
        <p:guide pos="6834"/>
        <p:guide orient="horz" pos="1752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AFAC-FF84-1640-AB95-9C5ACD86EF2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CD1BE-AC44-6D4C-8579-46D0DFEBC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4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1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4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5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9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98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1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6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3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4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2BEF4-5455-A34E-A94E-4E88DA89978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1C2A7-8F4F-4B4A-B0BC-6DD25D05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5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53019" y="-3273395"/>
            <a:ext cx="8689240" cy="9965584"/>
            <a:chOff x="2153019" y="-3273395"/>
            <a:chExt cx="8689240" cy="9965584"/>
          </a:xfrm>
        </p:grpSpPr>
        <p:grpSp>
          <p:nvGrpSpPr>
            <p:cNvPr id="77" name="Group 76"/>
            <p:cNvGrpSpPr/>
            <p:nvPr/>
          </p:nvGrpSpPr>
          <p:grpSpPr>
            <a:xfrm>
              <a:off x="5288525" y="-3201052"/>
              <a:ext cx="5400000" cy="5400000"/>
              <a:chOff x="4027587" y="-3644161"/>
              <a:chExt cx="5400000" cy="5400000"/>
            </a:xfrm>
          </p:grpSpPr>
          <p:sp>
            <p:nvSpPr>
              <p:cNvPr id="25" name="Arc 24"/>
              <p:cNvSpPr/>
              <p:nvPr/>
            </p:nvSpPr>
            <p:spPr>
              <a:xfrm rot="10800000">
                <a:off x="4027587" y="-3644161"/>
                <a:ext cx="5400000" cy="5400000"/>
              </a:xfrm>
              <a:prstGeom prst="arc">
                <a:avLst>
                  <a:gd name="adj1" fmla="val 16609877"/>
                  <a:gd name="adj2" fmla="val 19087875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 rot="1960862">
                <a:off x="4201456" y="1275408"/>
                <a:ext cx="18927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PsrABC</a:t>
                </a:r>
                <a:r>
                  <a:rPr lang="en-US" sz="12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ShyABCD</a:t>
                </a:r>
                <a:endParaRPr lang="en-US" sz="12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pPr algn="ctr"/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SudAB</a:t>
                </a:r>
                <a:r>
                  <a:rPr lang="en-US" sz="12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Npsr</a:t>
                </a:r>
                <a:r>
                  <a:rPr lang="en-US" sz="12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SreABC</a:t>
                </a:r>
                <a:endParaRPr lang="en-US" sz="12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5379653" y="-3273395"/>
              <a:ext cx="5400000" cy="5400000"/>
              <a:chOff x="4056085" y="-3653874"/>
              <a:chExt cx="5400000" cy="5400000"/>
            </a:xfrm>
          </p:grpSpPr>
          <p:sp>
            <p:nvSpPr>
              <p:cNvPr id="76" name="Arc 75"/>
              <p:cNvSpPr/>
              <p:nvPr/>
            </p:nvSpPr>
            <p:spPr>
              <a:xfrm rot="10800000">
                <a:off x="4056085" y="-3653874"/>
                <a:ext cx="5400000" cy="5400000"/>
              </a:xfrm>
              <a:prstGeom prst="arc">
                <a:avLst>
                  <a:gd name="adj1" fmla="val 16609877"/>
                  <a:gd name="adj2" fmla="val 19087875"/>
                </a:avLst>
              </a:prstGeom>
              <a:ln w="25400">
                <a:solidFill>
                  <a:srgbClr val="00B0F0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 rot="1958404">
                <a:off x="5150836" y="1200622"/>
                <a:ext cx="9135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2153019" y="512742"/>
              <a:ext cx="8689240" cy="6179447"/>
              <a:chOff x="2153019" y="512742"/>
              <a:chExt cx="8689240" cy="6179447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5562220" y="815124"/>
                <a:ext cx="8713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HS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723068" y="1972827"/>
                <a:ext cx="8713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S(0)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7699333" y="4871639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423312" y="6212239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591759" y="3532417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313286" y="3464818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2</a:t>
                </a:r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650198" y="3464818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sz="2000" baseline="-2500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sz="2000" baseline="-25000">
                    <a:latin typeface="Arial" charset="0"/>
                    <a:ea typeface="Arial" charset="0"/>
                    <a:cs typeface="Arial" charset="0"/>
                  </a:rPr>
                  <a:t>6</a:t>
                </a:r>
                <a:r>
                  <a:rPr lang="en-US" sz="2000" baseline="3000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sz="2000" baseline="30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0" name="Arc 19"/>
              <p:cNvSpPr/>
              <p:nvPr/>
            </p:nvSpPr>
            <p:spPr>
              <a:xfrm>
                <a:off x="3099792" y="1052209"/>
                <a:ext cx="5400000" cy="5400000"/>
              </a:xfrm>
              <a:prstGeom prst="arc">
                <a:avLst>
                  <a:gd name="adj1" fmla="val 19870984"/>
                  <a:gd name="adj2" fmla="val 1541901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" name="Arc 20"/>
              <p:cNvSpPr/>
              <p:nvPr/>
            </p:nvSpPr>
            <p:spPr>
              <a:xfrm>
                <a:off x="3099792" y="1037807"/>
                <a:ext cx="5400000" cy="5400000"/>
              </a:xfrm>
              <a:prstGeom prst="arc">
                <a:avLst>
                  <a:gd name="adj1" fmla="val 2252185"/>
                  <a:gd name="adj2" fmla="val 4825438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3094851" y="1022607"/>
                <a:ext cx="5400000" cy="5400000"/>
              </a:xfrm>
              <a:prstGeom prst="arc">
                <a:avLst>
                  <a:gd name="adj1" fmla="val 8533275"/>
                  <a:gd name="adj2" fmla="val 10382662"/>
                </a:avLst>
              </a:prstGeom>
              <a:ln w="2540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3" name="Arc 22"/>
              <p:cNvSpPr/>
              <p:nvPr/>
            </p:nvSpPr>
            <p:spPr>
              <a:xfrm>
                <a:off x="3094851" y="1022380"/>
                <a:ext cx="5400000" cy="5400000"/>
              </a:xfrm>
              <a:prstGeom prst="arc">
                <a:avLst>
                  <a:gd name="adj1" fmla="val 11046857"/>
                  <a:gd name="adj2" fmla="val 15728889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7382156" y="5861192"/>
                <a:ext cx="10797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SoeABC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SorAB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SorT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 flipV="1">
                <a:off x="5194911" y="3559025"/>
                <a:ext cx="1512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8479945" y="3343099"/>
                <a:ext cx="23623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Hdr-TusA-Rhd-DsrE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DsrABCEFH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Sdo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82" name="Group 81"/>
              <p:cNvGrpSpPr/>
              <p:nvPr/>
            </p:nvGrpSpPr>
            <p:grpSpPr>
              <a:xfrm>
                <a:off x="3168528" y="1057534"/>
                <a:ext cx="5400000" cy="5400000"/>
                <a:chOff x="1870012" y="664529"/>
                <a:chExt cx="5400000" cy="5400000"/>
              </a:xfrm>
            </p:grpSpPr>
            <p:sp>
              <p:nvSpPr>
                <p:cNvPr id="19" name="Arc 18"/>
                <p:cNvSpPr/>
                <p:nvPr/>
              </p:nvSpPr>
              <p:spPr>
                <a:xfrm>
                  <a:off x="1870012" y="664529"/>
                  <a:ext cx="5400000" cy="5400000"/>
                </a:xfrm>
                <a:prstGeom prst="arc">
                  <a:avLst>
                    <a:gd name="adj1" fmla="val 16609877"/>
                    <a:gd name="adj2" fmla="val 19087875"/>
                  </a:avLst>
                </a:prstGeom>
                <a:ln w="25400">
                  <a:solidFill>
                    <a:schemeClr val="tx1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 rot="1702489">
                  <a:off x="5328842" y="775820"/>
                  <a:ext cx="135949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FccAB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/</a:t>
                  </a:r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Sqr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4114333" y="6052778"/>
                <a:ext cx="5736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Sat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425244" y="1703813"/>
                <a:ext cx="96572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 smtClean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AsrABC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MccA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 smtClean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Fsr</a:t>
                </a:r>
                <a:endParaRPr lang="en-US" sz="1600" dirty="0" smtClean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DsrABC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216944" y="3265508"/>
                <a:ext cx="20374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Tqo</a:t>
                </a:r>
                <a:r>
                  <a:rPr lang="en-US" sz="14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4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TsdA</a:t>
                </a:r>
                <a:r>
                  <a:rPr lang="en-US" sz="14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4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DoxDA</a:t>
                </a:r>
                <a:endParaRPr lang="en-US" sz="14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5149125" y="3794751"/>
                <a:ext cx="1512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5508591" y="3758598"/>
                <a:ext cx="7903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Ttr</a:t>
                </a:r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Otr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 flipV="1">
                <a:off x="4680959" y="1242310"/>
                <a:ext cx="1093013" cy="2207968"/>
              </a:xfrm>
              <a:prstGeom prst="straightConnector1">
                <a:avLst/>
              </a:prstGeom>
              <a:ln w="25400">
                <a:solidFill>
                  <a:schemeClr val="accent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 flipH="1">
                <a:off x="3435091" y="3636012"/>
                <a:ext cx="936000" cy="0"/>
              </a:xfrm>
              <a:prstGeom prst="straightConnector1">
                <a:avLst/>
              </a:prstGeom>
              <a:ln w="25400">
                <a:solidFill>
                  <a:schemeClr val="accent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ectangle 45"/>
              <p:cNvSpPr/>
              <p:nvPr/>
            </p:nvSpPr>
            <p:spPr>
              <a:xfrm rot="17829084">
                <a:off x="4584353" y="2198388"/>
                <a:ext cx="9573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PhsABC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4700478" y="3964909"/>
                <a:ext cx="1069267" cy="2160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ectangle 48"/>
              <p:cNvSpPr/>
              <p:nvPr/>
            </p:nvSpPr>
            <p:spPr>
              <a:xfrm rot="3874717">
                <a:off x="4555366" y="4717177"/>
                <a:ext cx="150233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SoxYZXABCD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3478694" y="3338751"/>
                <a:ext cx="9573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PhsABC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55" name="Straight Arrow Connector 54"/>
              <p:cNvCxnSpPr>
                <a:cxnSpLocks noChangeAspect="1"/>
              </p:cNvCxnSpPr>
              <p:nvPr/>
            </p:nvCxnSpPr>
            <p:spPr>
              <a:xfrm>
                <a:off x="7376512" y="3921863"/>
                <a:ext cx="462838" cy="900000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ectangle 56"/>
              <p:cNvSpPr/>
              <p:nvPr/>
            </p:nvSpPr>
            <p:spPr>
              <a:xfrm rot="3558280">
                <a:off x="7127151" y="4208604"/>
                <a:ext cx="6594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TetH</a:t>
                </a:r>
                <a:endParaRPr 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62" name="Group 61"/>
              <p:cNvGrpSpPr/>
              <p:nvPr/>
            </p:nvGrpSpPr>
            <p:grpSpPr>
              <a:xfrm>
                <a:off x="6029042" y="3969893"/>
                <a:ext cx="1051446" cy="2124000"/>
                <a:chOff x="4680456" y="3619433"/>
                <a:chExt cx="1051446" cy="2124000"/>
              </a:xfrm>
            </p:grpSpPr>
            <p:sp>
              <p:nvSpPr>
                <p:cNvPr id="56" name="Rectangle 55"/>
                <p:cNvSpPr/>
                <p:nvPr/>
              </p:nvSpPr>
              <p:spPr>
                <a:xfrm rot="17829084">
                  <a:off x="4804591" y="4300971"/>
                  <a:ext cx="6594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TetH</a:t>
                  </a:r>
                  <a:endParaRPr lang="en-US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cxnSp>
              <p:nvCxnSpPr>
                <p:cNvPr id="58" name="Straight Arrow Connector 57"/>
                <p:cNvCxnSpPr>
                  <a:cxnSpLocks noChangeAspect="1"/>
                </p:cNvCxnSpPr>
                <p:nvPr/>
              </p:nvCxnSpPr>
              <p:spPr>
                <a:xfrm flipH="1">
                  <a:off x="4680456" y="3619433"/>
                  <a:ext cx="1051446" cy="212400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prstDash val="dash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Arrow Connector 59"/>
              <p:cNvCxnSpPr/>
              <p:nvPr/>
            </p:nvCxnSpPr>
            <p:spPr>
              <a:xfrm flipH="1" flipV="1">
                <a:off x="5155758" y="3681730"/>
                <a:ext cx="1512000" cy="0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Group 95"/>
              <p:cNvGrpSpPr/>
              <p:nvPr/>
            </p:nvGrpSpPr>
            <p:grpSpPr>
              <a:xfrm>
                <a:off x="7383982" y="2446730"/>
                <a:ext cx="525101" cy="1016939"/>
                <a:chOff x="6004189" y="2073811"/>
                <a:chExt cx="525101" cy="1016939"/>
              </a:xfrm>
            </p:grpSpPr>
            <p:cxnSp>
              <p:nvCxnSpPr>
                <p:cNvPr id="63" name="Straight Arrow Connector 62"/>
                <p:cNvCxnSpPr>
                  <a:cxnSpLocks noChangeAspect="1"/>
                </p:cNvCxnSpPr>
                <p:nvPr/>
              </p:nvCxnSpPr>
              <p:spPr>
                <a:xfrm flipV="1">
                  <a:off x="6004189" y="2073811"/>
                  <a:ext cx="503416" cy="1016939"/>
                </a:xfrm>
                <a:prstGeom prst="straightConnector1">
                  <a:avLst/>
                </a:prstGeom>
                <a:ln w="25400">
                  <a:solidFill>
                    <a:srgbClr val="00B050"/>
                  </a:solidFill>
                  <a:prstDash val="dash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/>
                <p:cNvSpPr txBox="1"/>
                <p:nvPr/>
              </p:nvSpPr>
              <p:spPr>
                <a:xfrm rot="17745889">
                  <a:off x="5903257" y="2427867"/>
                  <a:ext cx="9135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SoxB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6108936" y="4012766"/>
                <a:ext cx="1051446" cy="2124000"/>
                <a:chOff x="4771074" y="3659107"/>
                <a:chExt cx="1051446" cy="2124000"/>
              </a:xfrm>
            </p:grpSpPr>
            <p:cxnSp>
              <p:nvCxnSpPr>
                <p:cNvPr id="61" name="Straight Arrow Connector 60"/>
                <p:cNvCxnSpPr>
                  <a:cxnSpLocks noChangeAspect="1"/>
                </p:cNvCxnSpPr>
                <p:nvPr/>
              </p:nvCxnSpPr>
              <p:spPr>
                <a:xfrm flipH="1">
                  <a:off x="4771074" y="3659107"/>
                  <a:ext cx="1051446" cy="2124000"/>
                </a:xfrm>
                <a:prstGeom prst="straightConnector1">
                  <a:avLst/>
                </a:prstGeom>
                <a:ln w="25400">
                  <a:solidFill>
                    <a:srgbClr val="00B050"/>
                  </a:solidFill>
                  <a:prstDash val="dash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/>
                <p:cNvSpPr txBox="1"/>
                <p:nvPr/>
              </p:nvSpPr>
              <p:spPr>
                <a:xfrm rot="17696699">
                  <a:off x="5058392" y="4393888"/>
                  <a:ext cx="9135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SoxB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cxnSp>
            <p:nvCxnSpPr>
              <p:cNvPr id="67" name="Straight Arrow Connector 66"/>
              <p:cNvCxnSpPr/>
              <p:nvPr/>
            </p:nvCxnSpPr>
            <p:spPr>
              <a:xfrm flipH="1">
                <a:off x="3434118" y="3742117"/>
                <a:ext cx="936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Rectangle 67"/>
              <p:cNvSpPr/>
              <p:nvPr/>
            </p:nvSpPr>
            <p:spPr>
              <a:xfrm>
                <a:off x="3494506" y="3689868"/>
                <a:ext cx="93647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RdlA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Hdr</a:t>
                </a:r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-Sox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3490797" y="5398409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APS</a:t>
                </a:r>
                <a:endParaRPr lang="en-US" sz="2000" baseline="30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2496094" y="4598490"/>
                <a:ext cx="8515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AprAB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Arc 70"/>
              <p:cNvSpPr/>
              <p:nvPr/>
            </p:nvSpPr>
            <p:spPr>
              <a:xfrm>
                <a:off x="3107568" y="1037580"/>
                <a:ext cx="5400000" cy="5400000"/>
              </a:xfrm>
              <a:prstGeom prst="arc">
                <a:avLst>
                  <a:gd name="adj1" fmla="val 6046598"/>
                  <a:gd name="adj2" fmla="val 7840905"/>
                </a:avLst>
              </a:prstGeom>
              <a:ln w="2540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8" name="Arc 77"/>
              <p:cNvSpPr/>
              <p:nvPr/>
            </p:nvSpPr>
            <p:spPr>
              <a:xfrm>
                <a:off x="3018985" y="1052209"/>
                <a:ext cx="5400000" cy="5400000"/>
              </a:xfrm>
              <a:prstGeom prst="arc">
                <a:avLst>
                  <a:gd name="adj1" fmla="val 19870984"/>
                  <a:gd name="adj2" fmla="val 1541901"/>
                </a:avLst>
              </a:prstGeom>
              <a:ln w="25400">
                <a:solidFill>
                  <a:srgbClr val="00B0F0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 rot="5400000">
                <a:off x="7957203" y="3636286"/>
                <a:ext cx="6595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SOR</a:t>
                </a:r>
              </a:p>
            </p:txBody>
          </p:sp>
          <p:cxnSp>
            <p:nvCxnSpPr>
              <p:cNvPr id="84" name="Straight Arrow Connector 83"/>
              <p:cNvCxnSpPr>
                <a:cxnSpLocks noChangeAspect="1"/>
              </p:cNvCxnSpPr>
              <p:nvPr/>
            </p:nvCxnSpPr>
            <p:spPr>
              <a:xfrm>
                <a:off x="4602739" y="4006050"/>
                <a:ext cx="1069267" cy="2160000"/>
              </a:xfrm>
              <a:prstGeom prst="straightConnector1">
                <a:avLst/>
              </a:prstGeom>
              <a:ln w="25400">
                <a:solidFill>
                  <a:srgbClr val="7030A0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ectangle 84"/>
              <p:cNvSpPr/>
              <p:nvPr/>
            </p:nvSpPr>
            <p:spPr>
              <a:xfrm rot="3800347">
                <a:off x="4392851" y="4884152"/>
                <a:ext cx="12073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SoxYZXAB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86" name="Straight Arrow Connector 85"/>
              <p:cNvCxnSpPr>
                <a:cxnSpLocks/>
                <a:stCxn id="10" idx="0"/>
              </p:cNvCxnSpPr>
              <p:nvPr/>
            </p:nvCxnSpPr>
            <p:spPr>
              <a:xfrm flipV="1">
                <a:off x="4866409" y="2319187"/>
                <a:ext cx="2832229" cy="1145631"/>
              </a:xfrm>
              <a:prstGeom prst="straightConnector1">
                <a:avLst/>
              </a:prstGeom>
              <a:ln w="25400">
                <a:solidFill>
                  <a:srgbClr val="7030A0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Rectangle 93"/>
              <p:cNvSpPr/>
              <p:nvPr/>
            </p:nvSpPr>
            <p:spPr>
              <a:xfrm rot="20338069">
                <a:off x="5523921" y="2677122"/>
                <a:ext cx="12073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SoxYZXAB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97" name="Group 96"/>
              <p:cNvGrpSpPr/>
              <p:nvPr/>
            </p:nvGrpSpPr>
            <p:grpSpPr>
              <a:xfrm>
                <a:off x="7183327" y="2379844"/>
                <a:ext cx="614644" cy="1080000"/>
                <a:chOff x="4600464" y="3619433"/>
                <a:chExt cx="614644" cy="1080000"/>
              </a:xfrm>
            </p:grpSpPr>
            <p:sp>
              <p:nvSpPr>
                <p:cNvPr id="98" name="Rectangle 97"/>
                <p:cNvSpPr/>
                <p:nvPr/>
              </p:nvSpPr>
              <p:spPr>
                <a:xfrm rot="17829084">
                  <a:off x="4455424" y="3998929"/>
                  <a:ext cx="6594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TetH</a:t>
                  </a:r>
                  <a:endParaRPr lang="en-US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cxnSp>
              <p:nvCxnSpPr>
                <p:cNvPr id="99" name="Straight Arrow Connector 98"/>
                <p:cNvCxnSpPr>
                  <a:cxnSpLocks noChangeAspect="1"/>
                </p:cNvCxnSpPr>
                <p:nvPr/>
              </p:nvCxnSpPr>
              <p:spPr>
                <a:xfrm flipH="1">
                  <a:off x="4680471" y="3619433"/>
                  <a:ext cx="534637" cy="108000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prstDash val="dash"/>
                  <a:headEnd type="stealth"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3" name="Group 102"/>
              <p:cNvGrpSpPr/>
              <p:nvPr/>
            </p:nvGrpSpPr>
            <p:grpSpPr>
              <a:xfrm>
                <a:off x="2781935" y="1122690"/>
                <a:ext cx="1205619" cy="338554"/>
                <a:chOff x="1445457" y="805829"/>
                <a:chExt cx="1205619" cy="338554"/>
              </a:xfrm>
            </p:grpSpPr>
            <p:sp>
              <p:nvSpPr>
                <p:cNvPr id="102" name="Rounded Rectangle 101"/>
                <p:cNvSpPr/>
                <p:nvPr/>
              </p:nvSpPr>
              <p:spPr>
                <a:xfrm>
                  <a:off x="1509181" y="815844"/>
                  <a:ext cx="1067883" cy="324957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1445457" y="805829"/>
                  <a:ext cx="120561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DsrMKJOP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04" name="Arc 103"/>
              <p:cNvSpPr/>
              <p:nvPr/>
            </p:nvSpPr>
            <p:spPr>
              <a:xfrm rot="8287452">
                <a:off x="3783788" y="512742"/>
                <a:ext cx="914400" cy="914400"/>
              </a:xfrm>
              <a:prstGeom prst="arc">
                <a:avLst>
                  <a:gd name="adj1" fmla="val 17002981"/>
                  <a:gd name="adj2" fmla="val 21378012"/>
                </a:avLst>
              </a:prstGeom>
              <a:ln w="254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4004874" y="1032255"/>
                <a:ext cx="3890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e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>
                <a:off x="2242849" y="5299002"/>
                <a:ext cx="1205619" cy="338554"/>
                <a:chOff x="1445457" y="805829"/>
                <a:chExt cx="1205619" cy="338554"/>
              </a:xfrm>
            </p:grpSpPr>
            <p:sp>
              <p:nvSpPr>
                <p:cNvPr id="107" name="Rounded Rectangle 106"/>
                <p:cNvSpPr/>
                <p:nvPr/>
              </p:nvSpPr>
              <p:spPr>
                <a:xfrm>
                  <a:off x="1509182" y="815844"/>
                  <a:ext cx="917000" cy="324957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TextBox 107"/>
                <p:cNvSpPr txBox="1"/>
                <p:nvPr/>
              </p:nvSpPr>
              <p:spPr>
                <a:xfrm>
                  <a:off x="1445457" y="805829"/>
                  <a:ext cx="120561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QmoABC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09" name="TextBox 108"/>
              <p:cNvSpPr txBox="1"/>
              <p:nvPr/>
            </p:nvSpPr>
            <p:spPr>
              <a:xfrm>
                <a:off x="3112349" y="5043280"/>
                <a:ext cx="3438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e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10" name="Arc 109"/>
              <p:cNvSpPr/>
              <p:nvPr/>
            </p:nvSpPr>
            <p:spPr>
              <a:xfrm rot="3686481">
                <a:off x="2500825" y="4634740"/>
                <a:ext cx="914400" cy="914400"/>
              </a:xfrm>
              <a:prstGeom prst="arc">
                <a:avLst>
                  <a:gd name="adj1" fmla="val 17002981"/>
                  <a:gd name="adj2" fmla="val 21090502"/>
                </a:avLst>
              </a:prstGeom>
              <a:ln w="254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4" name="Group 73"/>
              <p:cNvGrpSpPr/>
              <p:nvPr/>
            </p:nvGrpSpPr>
            <p:grpSpPr>
              <a:xfrm>
                <a:off x="2153019" y="2851747"/>
                <a:ext cx="636790" cy="338554"/>
                <a:chOff x="1471962" y="805829"/>
                <a:chExt cx="636790" cy="338554"/>
              </a:xfrm>
            </p:grpSpPr>
            <p:sp>
              <p:nvSpPr>
                <p:cNvPr id="75" name="Rounded Rectangle 74"/>
                <p:cNvSpPr/>
                <p:nvPr/>
              </p:nvSpPr>
              <p:spPr>
                <a:xfrm>
                  <a:off x="1509181" y="815844"/>
                  <a:ext cx="532419" cy="324957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1471962" y="805829"/>
                  <a:ext cx="6367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 smtClean="0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DsrL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88" name="Arc 87"/>
              <p:cNvSpPr/>
              <p:nvPr/>
            </p:nvSpPr>
            <p:spPr>
              <a:xfrm rot="6482594">
                <a:off x="2393556" y="2134559"/>
                <a:ext cx="914400" cy="914400"/>
              </a:xfrm>
              <a:prstGeom prst="arc">
                <a:avLst>
                  <a:gd name="adj1" fmla="val 17002981"/>
                  <a:gd name="adj2" fmla="val 21378012"/>
                </a:avLst>
              </a:prstGeom>
              <a:ln w="254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2818100" y="2748555"/>
                <a:ext cx="3890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e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195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53019" y="-3273395"/>
            <a:ext cx="8689240" cy="9965584"/>
            <a:chOff x="2153019" y="-3273395"/>
            <a:chExt cx="8689240" cy="9965584"/>
          </a:xfrm>
        </p:grpSpPr>
        <p:grpSp>
          <p:nvGrpSpPr>
            <p:cNvPr id="77" name="Group 76"/>
            <p:cNvGrpSpPr/>
            <p:nvPr/>
          </p:nvGrpSpPr>
          <p:grpSpPr>
            <a:xfrm>
              <a:off x="5288525" y="-3201052"/>
              <a:ext cx="5400000" cy="5442542"/>
              <a:chOff x="4027587" y="-3644161"/>
              <a:chExt cx="5400000" cy="5442542"/>
            </a:xfrm>
          </p:grpSpPr>
          <p:sp>
            <p:nvSpPr>
              <p:cNvPr id="25" name="Arc 24"/>
              <p:cNvSpPr/>
              <p:nvPr/>
            </p:nvSpPr>
            <p:spPr>
              <a:xfrm rot="10800000">
                <a:off x="4027587" y="-3644161"/>
                <a:ext cx="5400000" cy="5400000"/>
              </a:xfrm>
              <a:prstGeom prst="arc">
                <a:avLst>
                  <a:gd name="adj1" fmla="val 16609877"/>
                  <a:gd name="adj2" fmla="val 19087875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 rot="1960862">
                <a:off x="4183481" y="1336716"/>
                <a:ext cx="21198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PsrABC</a:t>
                </a:r>
                <a:r>
                  <a:rPr lang="en-US" sz="12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ShyABCD</a:t>
                </a:r>
                <a:endParaRPr lang="en-US" sz="12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pPr algn="ctr"/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SudAB</a:t>
                </a:r>
                <a:r>
                  <a:rPr lang="en-US" sz="12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Npsr</a:t>
                </a:r>
                <a:r>
                  <a:rPr lang="en-US" sz="12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2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SreABC</a:t>
                </a:r>
                <a:endParaRPr lang="en-US" sz="12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5379653" y="-3273395"/>
              <a:ext cx="5400000" cy="5400000"/>
              <a:chOff x="4056085" y="-3653874"/>
              <a:chExt cx="5400000" cy="5400000"/>
            </a:xfrm>
          </p:grpSpPr>
          <p:sp>
            <p:nvSpPr>
              <p:cNvPr id="76" name="Arc 75"/>
              <p:cNvSpPr/>
              <p:nvPr/>
            </p:nvSpPr>
            <p:spPr>
              <a:xfrm rot="10800000">
                <a:off x="4056085" y="-3653874"/>
                <a:ext cx="5400000" cy="5400000"/>
              </a:xfrm>
              <a:prstGeom prst="arc">
                <a:avLst>
                  <a:gd name="adj1" fmla="val 16609877"/>
                  <a:gd name="adj2" fmla="val 19087875"/>
                </a:avLst>
              </a:prstGeom>
              <a:ln w="25400">
                <a:solidFill>
                  <a:schemeClr val="tx1"/>
                </a:solidFill>
                <a:prstDash val="lgDashDotDot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 rot="1958404">
                <a:off x="5150836" y="1200622"/>
                <a:ext cx="9135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charset="0"/>
                    <a:ea typeface="Arial" charset="0"/>
                    <a:cs typeface="Arial" charset="0"/>
                  </a:rPr>
                  <a:t>SOR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2153019" y="512742"/>
              <a:ext cx="8689240" cy="6179447"/>
              <a:chOff x="2153019" y="512742"/>
              <a:chExt cx="8689240" cy="6179447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5562220" y="815124"/>
                <a:ext cx="8713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HS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723068" y="1972827"/>
                <a:ext cx="8713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S(0)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7699333" y="4871639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423312" y="6212239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591759" y="3532417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313286" y="3464818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2</a:t>
                </a:r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sz="20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20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650198" y="3464818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sz="2000" baseline="-2500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sz="2000" baseline="-25000">
                    <a:latin typeface="Arial" charset="0"/>
                    <a:ea typeface="Arial" charset="0"/>
                    <a:cs typeface="Arial" charset="0"/>
                  </a:rPr>
                  <a:t>6</a:t>
                </a:r>
                <a:r>
                  <a:rPr lang="en-US" sz="2000" baseline="3000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sz="2000" baseline="30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0" name="Arc 19"/>
              <p:cNvSpPr/>
              <p:nvPr/>
            </p:nvSpPr>
            <p:spPr>
              <a:xfrm>
                <a:off x="3099792" y="1052209"/>
                <a:ext cx="5400000" cy="5400000"/>
              </a:xfrm>
              <a:prstGeom prst="arc">
                <a:avLst>
                  <a:gd name="adj1" fmla="val 19870984"/>
                  <a:gd name="adj2" fmla="val 1541901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" name="Arc 20"/>
              <p:cNvSpPr/>
              <p:nvPr/>
            </p:nvSpPr>
            <p:spPr>
              <a:xfrm>
                <a:off x="3099792" y="1037807"/>
                <a:ext cx="5400000" cy="5400000"/>
              </a:xfrm>
              <a:prstGeom prst="arc">
                <a:avLst>
                  <a:gd name="adj1" fmla="val 2252185"/>
                  <a:gd name="adj2" fmla="val 4825438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3094851" y="1022607"/>
                <a:ext cx="5400000" cy="5400000"/>
              </a:xfrm>
              <a:prstGeom prst="arc">
                <a:avLst>
                  <a:gd name="adj1" fmla="val 8533275"/>
                  <a:gd name="adj2" fmla="val 10382662"/>
                </a:avLst>
              </a:prstGeom>
              <a:ln w="2540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3" name="Arc 22"/>
              <p:cNvSpPr/>
              <p:nvPr/>
            </p:nvSpPr>
            <p:spPr>
              <a:xfrm>
                <a:off x="3094851" y="1022380"/>
                <a:ext cx="5400000" cy="5400000"/>
              </a:xfrm>
              <a:prstGeom prst="arc">
                <a:avLst>
                  <a:gd name="adj1" fmla="val 11046857"/>
                  <a:gd name="adj2" fmla="val 15728889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7382156" y="5861192"/>
                <a:ext cx="10797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SoeABC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SorAB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SorT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 flipV="1">
                <a:off x="5194911" y="3559025"/>
                <a:ext cx="1512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8479945" y="3343099"/>
                <a:ext cx="23623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Hdr-TusA-Rhd-DsrE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DsrABCEFH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Sdo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82" name="Group 81"/>
              <p:cNvGrpSpPr/>
              <p:nvPr/>
            </p:nvGrpSpPr>
            <p:grpSpPr>
              <a:xfrm>
                <a:off x="3168528" y="1057534"/>
                <a:ext cx="5400000" cy="5400000"/>
                <a:chOff x="1870012" y="664529"/>
                <a:chExt cx="5400000" cy="5400000"/>
              </a:xfrm>
            </p:grpSpPr>
            <p:sp>
              <p:nvSpPr>
                <p:cNvPr id="19" name="Arc 18"/>
                <p:cNvSpPr/>
                <p:nvPr/>
              </p:nvSpPr>
              <p:spPr>
                <a:xfrm>
                  <a:off x="1870012" y="664529"/>
                  <a:ext cx="5400000" cy="5400000"/>
                </a:xfrm>
                <a:prstGeom prst="arc">
                  <a:avLst>
                    <a:gd name="adj1" fmla="val 16609877"/>
                    <a:gd name="adj2" fmla="val 19087875"/>
                  </a:avLst>
                </a:prstGeom>
                <a:ln w="25400">
                  <a:solidFill>
                    <a:schemeClr val="tx1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 rot="1702489">
                  <a:off x="5328842" y="775820"/>
                  <a:ext cx="135949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latin typeface="Arial" charset="0"/>
                      <a:ea typeface="Arial" charset="0"/>
                      <a:cs typeface="Arial" charset="0"/>
                    </a:rPr>
                    <a:t>FccAB</a:t>
                  </a:r>
                  <a:r>
                    <a:rPr lang="en-US" sz="1600" dirty="0">
                      <a:latin typeface="Arial" charset="0"/>
                      <a:ea typeface="Arial" charset="0"/>
                      <a:cs typeface="Arial" charset="0"/>
                    </a:rPr>
                    <a:t>/</a:t>
                  </a:r>
                  <a:r>
                    <a:rPr lang="en-US" sz="1600" dirty="0" err="1">
                      <a:latin typeface="Arial" charset="0"/>
                      <a:ea typeface="Arial" charset="0"/>
                      <a:cs typeface="Arial" charset="0"/>
                    </a:rPr>
                    <a:t>Sqr</a:t>
                  </a:r>
                  <a:endParaRPr lang="en-US" sz="1600" dirty="0"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4114333" y="6052778"/>
                <a:ext cx="5736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Sat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425244" y="1703813"/>
                <a:ext cx="96572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 smtClean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AsrABC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MccA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 smtClean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Fsr</a:t>
                </a:r>
                <a:endParaRPr lang="en-US" sz="1600" dirty="0" smtClean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DsrABC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345504" y="3275132"/>
                <a:ext cx="13903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smtClean="0">
                    <a:latin typeface="Arial" charset="0"/>
                    <a:ea typeface="Arial" charset="0"/>
                    <a:cs typeface="Arial" charset="0"/>
                  </a:rPr>
                  <a:t>TsdA</a:t>
                </a:r>
                <a:r>
                  <a:rPr lang="en-US" sz="1400" dirty="0" smtClean="0"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400" dirty="0" err="1" smtClean="0">
                    <a:latin typeface="Arial" charset="0"/>
                    <a:ea typeface="Arial" charset="0"/>
                    <a:cs typeface="Arial" charset="0"/>
                  </a:rPr>
                  <a:t>DoxDA</a:t>
                </a:r>
                <a:endParaRPr lang="en-US" sz="14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5149125" y="3794751"/>
                <a:ext cx="1512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5508591" y="3758598"/>
                <a:ext cx="7903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Ttr</a:t>
                </a:r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Otr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 flipV="1">
                <a:off x="4680959" y="1242310"/>
                <a:ext cx="1093013" cy="22079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 flipH="1">
                <a:off x="3435091" y="3636012"/>
                <a:ext cx="936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ectangle 45"/>
              <p:cNvSpPr/>
              <p:nvPr/>
            </p:nvSpPr>
            <p:spPr>
              <a:xfrm rot="17829084">
                <a:off x="4584353" y="2198388"/>
                <a:ext cx="9573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PhsABC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4700478" y="3964909"/>
                <a:ext cx="1069267" cy="2160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ectangle 48"/>
              <p:cNvSpPr/>
              <p:nvPr/>
            </p:nvSpPr>
            <p:spPr>
              <a:xfrm rot="3874717">
                <a:off x="4555366" y="4717177"/>
                <a:ext cx="150233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SoxYZXABCD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3478694" y="3338751"/>
                <a:ext cx="9573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PhsABC</a:t>
                </a:r>
                <a:endParaRPr lang="en-US" sz="1600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55" name="Straight Arrow Connector 54"/>
              <p:cNvCxnSpPr>
                <a:cxnSpLocks noChangeAspect="1"/>
              </p:cNvCxnSpPr>
              <p:nvPr/>
            </p:nvCxnSpPr>
            <p:spPr>
              <a:xfrm>
                <a:off x="7376512" y="3921863"/>
                <a:ext cx="462838" cy="900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dashDot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ectangle 56"/>
              <p:cNvSpPr/>
              <p:nvPr/>
            </p:nvSpPr>
            <p:spPr>
              <a:xfrm rot="3558280">
                <a:off x="7127151" y="4208604"/>
                <a:ext cx="6594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latin typeface="Arial" charset="0"/>
                    <a:ea typeface="Arial" charset="0"/>
                    <a:cs typeface="Arial" charset="0"/>
                  </a:rPr>
                  <a:t>TetH</a:t>
                </a:r>
                <a:endParaRPr lang="en-US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62" name="Group 61"/>
              <p:cNvGrpSpPr/>
              <p:nvPr/>
            </p:nvGrpSpPr>
            <p:grpSpPr>
              <a:xfrm>
                <a:off x="6029042" y="3969893"/>
                <a:ext cx="1051446" cy="2124000"/>
                <a:chOff x="4680456" y="3619433"/>
                <a:chExt cx="1051446" cy="2124000"/>
              </a:xfrm>
            </p:grpSpPr>
            <p:sp>
              <p:nvSpPr>
                <p:cNvPr id="56" name="Rectangle 55"/>
                <p:cNvSpPr/>
                <p:nvPr/>
              </p:nvSpPr>
              <p:spPr>
                <a:xfrm rot="17829084">
                  <a:off x="4804591" y="4300971"/>
                  <a:ext cx="6594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err="1">
                      <a:latin typeface="Arial" charset="0"/>
                      <a:ea typeface="Arial" charset="0"/>
                      <a:cs typeface="Arial" charset="0"/>
                    </a:rPr>
                    <a:t>TetH</a:t>
                  </a:r>
                  <a:endParaRPr lang="en-US" dirty="0"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cxnSp>
              <p:nvCxnSpPr>
                <p:cNvPr id="58" name="Straight Arrow Connector 57"/>
                <p:cNvCxnSpPr>
                  <a:cxnSpLocks noChangeAspect="1"/>
                </p:cNvCxnSpPr>
                <p:nvPr/>
              </p:nvCxnSpPr>
              <p:spPr>
                <a:xfrm flipH="1">
                  <a:off x="4680456" y="3619433"/>
                  <a:ext cx="1051446" cy="212400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dashDot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Arrow Connector 59"/>
              <p:cNvCxnSpPr/>
              <p:nvPr/>
            </p:nvCxnSpPr>
            <p:spPr>
              <a:xfrm flipH="1" flipV="1">
                <a:off x="5155758" y="3681730"/>
                <a:ext cx="1512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dashDot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Group 95"/>
              <p:cNvGrpSpPr/>
              <p:nvPr/>
            </p:nvGrpSpPr>
            <p:grpSpPr>
              <a:xfrm>
                <a:off x="7383982" y="2446730"/>
                <a:ext cx="525101" cy="1016939"/>
                <a:chOff x="6004189" y="2073811"/>
                <a:chExt cx="525101" cy="1016939"/>
              </a:xfrm>
            </p:grpSpPr>
            <p:cxnSp>
              <p:nvCxnSpPr>
                <p:cNvPr id="63" name="Straight Arrow Connector 62"/>
                <p:cNvCxnSpPr>
                  <a:cxnSpLocks noChangeAspect="1"/>
                </p:cNvCxnSpPr>
                <p:nvPr/>
              </p:nvCxnSpPr>
              <p:spPr>
                <a:xfrm flipV="1">
                  <a:off x="6004189" y="2073811"/>
                  <a:ext cx="503416" cy="1016939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lgDash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/>
                <p:cNvSpPr txBox="1"/>
                <p:nvPr/>
              </p:nvSpPr>
              <p:spPr>
                <a:xfrm rot="17745889">
                  <a:off x="5903257" y="2427867"/>
                  <a:ext cx="9135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latin typeface="Arial" charset="0"/>
                      <a:ea typeface="Arial" charset="0"/>
                      <a:cs typeface="Arial" charset="0"/>
                    </a:rPr>
                    <a:t>SoxB</a:t>
                  </a:r>
                  <a:endParaRPr lang="en-US" sz="1600" dirty="0"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6108936" y="4012766"/>
                <a:ext cx="1051446" cy="2124000"/>
                <a:chOff x="4771074" y="3659107"/>
                <a:chExt cx="1051446" cy="2124000"/>
              </a:xfrm>
            </p:grpSpPr>
            <p:cxnSp>
              <p:nvCxnSpPr>
                <p:cNvPr id="61" name="Straight Arrow Connector 60"/>
                <p:cNvCxnSpPr>
                  <a:cxnSpLocks noChangeAspect="1"/>
                </p:cNvCxnSpPr>
                <p:nvPr/>
              </p:nvCxnSpPr>
              <p:spPr>
                <a:xfrm flipH="1">
                  <a:off x="4771074" y="3659107"/>
                  <a:ext cx="1051446" cy="212400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lgDash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/>
                <p:cNvSpPr txBox="1"/>
                <p:nvPr/>
              </p:nvSpPr>
              <p:spPr>
                <a:xfrm rot="17696699">
                  <a:off x="5058392" y="4393888"/>
                  <a:ext cx="9135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latin typeface="Arial" charset="0"/>
                      <a:ea typeface="Arial" charset="0"/>
                      <a:cs typeface="Arial" charset="0"/>
                    </a:rPr>
                    <a:t>SoxB</a:t>
                  </a:r>
                  <a:endParaRPr lang="en-US" sz="1600" dirty="0"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cxnSp>
            <p:nvCxnSpPr>
              <p:cNvPr id="67" name="Straight Arrow Connector 66"/>
              <p:cNvCxnSpPr/>
              <p:nvPr/>
            </p:nvCxnSpPr>
            <p:spPr>
              <a:xfrm flipH="1">
                <a:off x="3434118" y="3742117"/>
                <a:ext cx="936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Rectangle 67"/>
              <p:cNvSpPr/>
              <p:nvPr/>
            </p:nvSpPr>
            <p:spPr>
              <a:xfrm>
                <a:off x="3494506" y="3689868"/>
                <a:ext cx="93647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RdlA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Hdr</a:t>
                </a:r>
                <a:r>
                  <a:rPr lang="en-US" sz="1600" dirty="0">
                    <a:latin typeface="Arial" charset="0"/>
                    <a:ea typeface="Arial" charset="0"/>
                    <a:cs typeface="Arial" charset="0"/>
                  </a:rPr>
                  <a:t>-Sox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3490797" y="5398409"/>
                <a:ext cx="1106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APS</a:t>
                </a:r>
                <a:endParaRPr lang="en-US" sz="2000" baseline="30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2496094" y="4598490"/>
                <a:ext cx="8515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AprAB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Arc 70"/>
              <p:cNvSpPr/>
              <p:nvPr/>
            </p:nvSpPr>
            <p:spPr>
              <a:xfrm>
                <a:off x="3107568" y="1037580"/>
                <a:ext cx="5400000" cy="5400000"/>
              </a:xfrm>
              <a:prstGeom prst="arc">
                <a:avLst>
                  <a:gd name="adj1" fmla="val 6046598"/>
                  <a:gd name="adj2" fmla="val 7840905"/>
                </a:avLst>
              </a:prstGeom>
              <a:ln w="2540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8" name="Arc 77"/>
              <p:cNvSpPr/>
              <p:nvPr/>
            </p:nvSpPr>
            <p:spPr>
              <a:xfrm>
                <a:off x="3018985" y="1052209"/>
                <a:ext cx="5400000" cy="5400000"/>
              </a:xfrm>
              <a:prstGeom prst="arc">
                <a:avLst>
                  <a:gd name="adj1" fmla="val 19870984"/>
                  <a:gd name="adj2" fmla="val 1541901"/>
                </a:avLst>
              </a:prstGeom>
              <a:ln w="25400">
                <a:solidFill>
                  <a:schemeClr val="tx1"/>
                </a:solidFill>
                <a:prstDash val="lgDashDotDot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 rot="5400000">
                <a:off x="7957203" y="3636286"/>
                <a:ext cx="6595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charset="0"/>
                    <a:ea typeface="Arial" charset="0"/>
                    <a:cs typeface="Arial" charset="0"/>
                  </a:rPr>
                  <a:t>SOR</a:t>
                </a:r>
              </a:p>
            </p:txBody>
          </p:sp>
          <p:cxnSp>
            <p:nvCxnSpPr>
              <p:cNvPr id="84" name="Straight Arrow Connector 83"/>
              <p:cNvCxnSpPr>
                <a:cxnSpLocks noChangeAspect="1"/>
              </p:cNvCxnSpPr>
              <p:nvPr/>
            </p:nvCxnSpPr>
            <p:spPr>
              <a:xfrm>
                <a:off x="4602739" y="4006050"/>
                <a:ext cx="1069267" cy="2160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ectangle 84"/>
              <p:cNvSpPr/>
              <p:nvPr/>
            </p:nvSpPr>
            <p:spPr>
              <a:xfrm rot="3800347">
                <a:off x="4392851" y="4884152"/>
                <a:ext cx="12073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SoxYZXAB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86" name="Straight Arrow Connector 85"/>
              <p:cNvCxnSpPr>
                <a:cxnSpLocks/>
                <a:stCxn id="10" idx="0"/>
              </p:cNvCxnSpPr>
              <p:nvPr/>
            </p:nvCxnSpPr>
            <p:spPr>
              <a:xfrm flipV="1">
                <a:off x="4866409" y="2319187"/>
                <a:ext cx="2832229" cy="114563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Rectangle 93"/>
              <p:cNvSpPr/>
              <p:nvPr/>
            </p:nvSpPr>
            <p:spPr>
              <a:xfrm rot="20338069">
                <a:off x="5523921" y="2677122"/>
                <a:ext cx="12073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>
                    <a:latin typeface="Arial" charset="0"/>
                    <a:ea typeface="Arial" charset="0"/>
                    <a:cs typeface="Arial" charset="0"/>
                  </a:rPr>
                  <a:t>SoxYZXAB</a:t>
                </a:r>
                <a:endParaRPr lang="en-US" sz="16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97" name="Group 96"/>
              <p:cNvGrpSpPr/>
              <p:nvPr/>
            </p:nvGrpSpPr>
            <p:grpSpPr>
              <a:xfrm>
                <a:off x="7183327" y="2379844"/>
                <a:ext cx="614644" cy="1080000"/>
                <a:chOff x="4600464" y="3619433"/>
                <a:chExt cx="614644" cy="1080000"/>
              </a:xfrm>
            </p:grpSpPr>
            <p:sp>
              <p:nvSpPr>
                <p:cNvPr id="98" name="Rectangle 97"/>
                <p:cNvSpPr/>
                <p:nvPr/>
              </p:nvSpPr>
              <p:spPr>
                <a:xfrm rot="17829084">
                  <a:off x="4455424" y="3998929"/>
                  <a:ext cx="6594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err="1">
                      <a:latin typeface="Arial" charset="0"/>
                      <a:ea typeface="Arial" charset="0"/>
                      <a:cs typeface="Arial" charset="0"/>
                    </a:rPr>
                    <a:t>TetH</a:t>
                  </a:r>
                  <a:endParaRPr lang="en-US" dirty="0"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cxnSp>
              <p:nvCxnSpPr>
                <p:cNvPr id="99" name="Straight Arrow Connector 98"/>
                <p:cNvCxnSpPr>
                  <a:cxnSpLocks noChangeAspect="1"/>
                </p:cNvCxnSpPr>
                <p:nvPr/>
              </p:nvCxnSpPr>
              <p:spPr>
                <a:xfrm flipH="1">
                  <a:off x="4680471" y="3619433"/>
                  <a:ext cx="534637" cy="108000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dashDot"/>
                  <a:headEnd type="stealth"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3" name="Group 102"/>
              <p:cNvGrpSpPr/>
              <p:nvPr/>
            </p:nvGrpSpPr>
            <p:grpSpPr>
              <a:xfrm>
                <a:off x="2781935" y="1122690"/>
                <a:ext cx="1205619" cy="338554"/>
                <a:chOff x="1445457" y="805829"/>
                <a:chExt cx="1205619" cy="338554"/>
              </a:xfrm>
            </p:grpSpPr>
            <p:sp>
              <p:nvSpPr>
                <p:cNvPr id="102" name="Rounded Rectangle 101"/>
                <p:cNvSpPr/>
                <p:nvPr/>
              </p:nvSpPr>
              <p:spPr>
                <a:xfrm>
                  <a:off x="1509181" y="815844"/>
                  <a:ext cx="1067883" cy="324957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1445457" y="805829"/>
                  <a:ext cx="120561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DsrMKJOP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04" name="Arc 103"/>
              <p:cNvSpPr/>
              <p:nvPr/>
            </p:nvSpPr>
            <p:spPr>
              <a:xfrm rot="8287452">
                <a:off x="3783788" y="512742"/>
                <a:ext cx="914400" cy="914400"/>
              </a:xfrm>
              <a:prstGeom prst="arc">
                <a:avLst>
                  <a:gd name="adj1" fmla="val 17002981"/>
                  <a:gd name="adj2" fmla="val 21378012"/>
                </a:avLst>
              </a:prstGeom>
              <a:ln w="254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4004874" y="1032255"/>
                <a:ext cx="3890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e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>
                <a:off x="2242849" y="5299002"/>
                <a:ext cx="1205619" cy="338554"/>
                <a:chOff x="1445457" y="805829"/>
                <a:chExt cx="1205619" cy="338554"/>
              </a:xfrm>
            </p:grpSpPr>
            <p:sp>
              <p:nvSpPr>
                <p:cNvPr id="107" name="Rounded Rectangle 106"/>
                <p:cNvSpPr/>
                <p:nvPr/>
              </p:nvSpPr>
              <p:spPr>
                <a:xfrm>
                  <a:off x="1509182" y="815844"/>
                  <a:ext cx="917000" cy="324957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TextBox 107"/>
                <p:cNvSpPr txBox="1"/>
                <p:nvPr/>
              </p:nvSpPr>
              <p:spPr>
                <a:xfrm>
                  <a:off x="1445457" y="805829"/>
                  <a:ext cx="120561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QmoABC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09" name="TextBox 108"/>
              <p:cNvSpPr txBox="1"/>
              <p:nvPr/>
            </p:nvSpPr>
            <p:spPr>
              <a:xfrm>
                <a:off x="3112349" y="5043280"/>
                <a:ext cx="3438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e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10" name="Arc 109"/>
              <p:cNvSpPr/>
              <p:nvPr/>
            </p:nvSpPr>
            <p:spPr>
              <a:xfrm rot="3686481">
                <a:off x="2500825" y="4634740"/>
                <a:ext cx="914400" cy="914400"/>
              </a:xfrm>
              <a:prstGeom prst="arc">
                <a:avLst>
                  <a:gd name="adj1" fmla="val 17002981"/>
                  <a:gd name="adj2" fmla="val 21090502"/>
                </a:avLst>
              </a:prstGeom>
              <a:ln w="254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4" name="Group 73"/>
              <p:cNvGrpSpPr/>
              <p:nvPr/>
            </p:nvGrpSpPr>
            <p:grpSpPr>
              <a:xfrm>
                <a:off x="2153019" y="2851747"/>
                <a:ext cx="636790" cy="338554"/>
                <a:chOff x="1471962" y="805829"/>
                <a:chExt cx="636790" cy="338554"/>
              </a:xfrm>
            </p:grpSpPr>
            <p:sp>
              <p:nvSpPr>
                <p:cNvPr id="75" name="Rounded Rectangle 74"/>
                <p:cNvSpPr/>
                <p:nvPr/>
              </p:nvSpPr>
              <p:spPr>
                <a:xfrm>
                  <a:off x="1509181" y="815844"/>
                  <a:ext cx="532419" cy="324957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1471962" y="805829"/>
                  <a:ext cx="6367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 err="1" smtClean="0">
                      <a:solidFill>
                        <a:srgbClr val="FF0000"/>
                      </a:solidFill>
                      <a:latin typeface="Arial" charset="0"/>
                      <a:ea typeface="Arial" charset="0"/>
                      <a:cs typeface="Arial" charset="0"/>
                    </a:rPr>
                    <a:t>DsrL</a:t>
                  </a:r>
                  <a:endParaRPr lang="en-US" sz="1600" dirty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88" name="Arc 87"/>
              <p:cNvSpPr/>
              <p:nvPr/>
            </p:nvSpPr>
            <p:spPr>
              <a:xfrm rot="6482594">
                <a:off x="2393556" y="2134559"/>
                <a:ext cx="914400" cy="914400"/>
              </a:xfrm>
              <a:prstGeom prst="arc">
                <a:avLst>
                  <a:gd name="adj1" fmla="val 17002981"/>
                  <a:gd name="adj2" fmla="val 21378012"/>
                </a:avLst>
              </a:prstGeom>
              <a:ln w="254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2818100" y="2748555"/>
                <a:ext cx="3890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e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138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1214151" y="2247144"/>
            <a:ext cx="10148778" cy="2688096"/>
            <a:chOff x="1214151" y="2247144"/>
            <a:chExt cx="10148778" cy="2688096"/>
          </a:xfrm>
        </p:grpSpPr>
        <p:sp>
          <p:nvSpPr>
            <p:cNvPr id="9" name="Rectangle 8"/>
            <p:cNvSpPr/>
            <p:nvPr/>
          </p:nvSpPr>
          <p:spPr>
            <a:xfrm>
              <a:off x="1214151" y="3218576"/>
              <a:ext cx="8018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SO</a:t>
              </a:r>
              <a:r>
                <a:rPr lang="en-US" sz="2000" baseline="-25000" dirty="0">
                  <a:latin typeface="Arial" charset="0"/>
                  <a:ea typeface="Arial" charset="0"/>
                  <a:cs typeface="Arial" charset="0"/>
                </a:rPr>
                <a:t>4</a:t>
              </a:r>
              <a:r>
                <a:rPr lang="en-US" sz="2000" baseline="30000" dirty="0">
                  <a:latin typeface="Arial" charset="0"/>
                  <a:ea typeface="Arial" charset="0"/>
                  <a:cs typeface="Arial" charset="0"/>
                </a:rPr>
                <a:t>2-</a:t>
              </a:r>
              <a:endParaRPr lang="en-US" sz="2000" baseline="30000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132171" y="3218576"/>
              <a:ext cx="8018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Arial" charset="0"/>
                  <a:ea typeface="Arial" charset="0"/>
                  <a:cs typeface="Arial" charset="0"/>
                </a:rPr>
                <a:t>SO</a:t>
              </a:r>
              <a:r>
                <a:rPr lang="en-US" sz="2000" baseline="-25000" dirty="0" smtClean="0">
                  <a:latin typeface="Arial" charset="0"/>
                  <a:ea typeface="Arial" charset="0"/>
                  <a:cs typeface="Arial" charset="0"/>
                </a:rPr>
                <a:t>3</a:t>
              </a:r>
              <a:r>
                <a:rPr lang="en-US" sz="2000" baseline="30000" dirty="0" smtClean="0">
                  <a:latin typeface="Arial" charset="0"/>
                  <a:ea typeface="Arial" charset="0"/>
                  <a:cs typeface="Arial" charset="0"/>
                </a:rPr>
                <a:t>2-</a:t>
              </a:r>
              <a:endParaRPr lang="en-US" sz="2000" baseline="30000" dirty="0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5016620" y="3218576"/>
              <a:ext cx="8963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Arial" charset="0"/>
                  <a:ea typeface="Arial" charset="0"/>
                  <a:cs typeface="Arial" charset="0"/>
                </a:rPr>
                <a:t>S</a:t>
              </a:r>
              <a:r>
                <a:rPr lang="en-US" sz="2000" baseline="-25000" dirty="0" smtClean="0">
                  <a:latin typeface="Arial" charset="0"/>
                  <a:ea typeface="Arial" charset="0"/>
                  <a:cs typeface="Arial" charset="0"/>
                </a:rPr>
                <a:t>4</a:t>
              </a:r>
              <a:r>
                <a:rPr lang="en-US" sz="2000" dirty="0" smtClean="0">
                  <a:latin typeface="Arial" charset="0"/>
                  <a:ea typeface="Arial" charset="0"/>
                  <a:cs typeface="Arial" charset="0"/>
                </a:rPr>
                <a:t>O</a:t>
              </a:r>
              <a:r>
                <a:rPr lang="en-US" sz="2000" baseline="-25000" dirty="0">
                  <a:latin typeface="Arial" charset="0"/>
                  <a:ea typeface="Arial" charset="0"/>
                  <a:cs typeface="Arial" charset="0"/>
                </a:rPr>
                <a:t>6</a:t>
              </a:r>
              <a:r>
                <a:rPr lang="en-US" sz="2000" baseline="30000" dirty="0" smtClean="0">
                  <a:latin typeface="Arial" charset="0"/>
                  <a:ea typeface="Arial" charset="0"/>
                  <a:cs typeface="Arial" charset="0"/>
                </a:rPr>
                <a:t>2-</a:t>
              </a:r>
              <a:endParaRPr lang="en-US" sz="2000" baseline="30000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6882403" y="3218576"/>
              <a:ext cx="8963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Arial" charset="0"/>
                  <a:ea typeface="Arial" charset="0"/>
                  <a:cs typeface="Arial" charset="0"/>
                </a:rPr>
                <a:t>S</a:t>
              </a:r>
              <a:r>
                <a:rPr lang="en-US" sz="2000" baseline="-25000" dirty="0" smtClean="0">
                  <a:latin typeface="Arial" charset="0"/>
                  <a:ea typeface="Arial" charset="0"/>
                  <a:cs typeface="Arial" charset="0"/>
                </a:rPr>
                <a:t>2</a:t>
              </a:r>
              <a:r>
                <a:rPr lang="en-US" sz="2000" dirty="0" smtClean="0">
                  <a:latin typeface="Arial" charset="0"/>
                  <a:ea typeface="Arial" charset="0"/>
                  <a:cs typeface="Arial" charset="0"/>
                </a:rPr>
                <a:t>O</a:t>
              </a:r>
              <a:r>
                <a:rPr lang="en-US" sz="2000" baseline="-25000" dirty="0">
                  <a:latin typeface="Arial" charset="0"/>
                  <a:ea typeface="Arial" charset="0"/>
                  <a:cs typeface="Arial" charset="0"/>
                </a:rPr>
                <a:t>3</a:t>
              </a:r>
              <a:r>
                <a:rPr lang="en-US" sz="2000" baseline="30000" dirty="0" smtClean="0">
                  <a:latin typeface="Arial" charset="0"/>
                  <a:ea typeface="Arial" charset="0"/>
                  <a:cs typeface="Arial" charset="0"/>
                </a:rPr>
                <a:t>2-</a:t>
              </a:r>
              <a:endParaRPr lang="en-US" sz="2000" baseline="30000" dirty="0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8994546" y="3218576"/>
              <a:ext cx="66877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Arial" charset="0"/>
                  <a:ea typeface="Arial" charset="0"/>
                  <a:cs typeface="Arial" charset="0"/>
                </a:rPr>
                <a:t>S(0)</a:t>
              </a:r>
              <a:endParaRPr lang="en-US" sz="2000" baseline="30000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763085" y="3218576"/>
              <a:ext cx="59984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Arial" charset="0"/>
                  <a:ea typeface="Arial" charset="0"/>
                  <a:cs typeface="Arial" charset="0"/>
                </a:rPr>
                <a:t>HS</a:t>
              </a:r>
              <a:r>
                <a:rPr lang="en-US" sz="2000" baseline="30000" dirty="0" smtClean="0">
                  <a:latin typeface="Arial" charset="0"/>
                  <a:ea typeface="Arial" charset="0"/>
                  <a:cs typeface="Arial" charset="0"/>
                </a:rPr>
                <a:t>-</a:t>
              </a:r>
              <a:endParaRPr lang="en-US" sz="2000" baseline="30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02981" y="2469158"/>
              <a:ext cx="10278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>
                  <a:solidFill>
                    <a:srgbClr val="FF0000"/>
                  </a:solidFill>
                  <a:ea typeface="Arial" charset="0"/>
                  <a:cs typeface="Arial" charset="0"/>
                </a:rPr>
                <a:t>Sat</a:t>
              </a:r>
              <a:endParaRPr lang="en-US" dirty="0" smtClean="0">
                <a:solidFill>
                  <a:srgbClr val="FF0000"/>
                </a:solidFill>
                <a:ea typeface="Arial" charset="0"/>
                <a:cs typeface="Arial" charset="0"/>
              </a:endParaRPr>
            </a:p>
            <a:p>
              <a:r>
                <a:rPr lang="en-US" dirty="0" err="1" smtClean="0">
                  <a:solidFill>
                    <a:srgbClr val="FF0000"/>
                  </a:solidFill>
                  <a:ea typeface="Arial" charset="0"/>
                  <a:cs typeface="Arial" charset="0"/>
                </a:rPr>
                <a:t>AprBA</a:t>
              </a:r>
              <a:endParaRPr lang="en-US" dirty="0" smtClean="0">
                <a:solidFill>
                  <a:srgbClr val="FF0000"/>
                </a:solidFill>
                <a:ea typeface="Arial" charset="0"/>
                <a:cs typeface="Arial" charset="0"/>
              </a:endParaRPr>
            </a:p>
            <a:p>
              <a:r>
                <a:rPr lang="en-US" dirty="0" err="1" smtClean="0">
                  <a:solidFill>
                    <a:srgbClr val="FF0000"/>
                  </a:solidFill>
                  <a:ea typeface="Arial" charset="0"/>
                  <a:cs typeface="Arial" charset="0"/>
                </a:rPr>
                <a:t>QmoABC</a:t>
              </a:r>
              <a:endParaRPr lang="en-US" dirty="0" smtClean="0">
                <a:solidFill>
                  <a:srgbClr val="FF0000"/>
                </a:solidFill>
                <a:ea typeface="Arial" charset="0"/>
                <a:cs typeface="Arial" charset="0"/>
              </a:endParaRPr>
            </a:p>
          </p:txBody>
        </p:sp>
        <p:cxnSp>
          <p:nvCxnSpPr>
            <p:cNvPr id="16" name="Straight Arrow Connector 15"/>
            <p:cNvCxnSpPr>
              <a:stCxn id="9" idx="3"/>
              <a:endCxn id="100" idx="1"/>
            </p:cNvCxnSpPr>
            <p:nvPr/>
          </p:nvCxnSpPr>
          <p:spPr>
            <a:xfrm>
              <a:off x="2015974" y="3418631"/>
              <a:ext cx="111619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/>
            <p:nvPr/>
          </p:nvCxnSpPr>
          <p:spPr>
            <a:xfrm>
              <a:off x="5769736" y="3403242"/>
              <a:ext cx="117871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6025829" y="2792323"/>
              <a:ext cx="8354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solidFill>
                    <a:srgbClr val="FF0000"/>
                  </a:solidFill>
                </a:rPr>
                <a:t>TtrABC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err="1" smtClean="0">
                  <a:solidFill>
                    <a:srgbClr val="FF0000"/>
                  </a:solidFill>
                </a:rPr>
                <a:t>Otr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117" name="Straight Arrow Connector 116"/>
            <p:cNvCxnSpPr/>
            <p:nvPr/>
          </p:nvCxnSpPr>
          <p:spPr>
            <a:xfrm>
              <a:off x="9568604" y="3403242"/>
              <a:ext cx="117871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/>
            <p:cNvSpPr txBox="1"/>
            <p:nvPr/>
          </p:nvSpPr>
          <p:spPr>
            <a:xfrm>
              <a:off x="9632519" y="2542554"/>
              <a:ext cx="117506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solidFill>
                    <a:srgbClr val="FF0000"/>
                  </a:solidFill>
                </a:rPr>
                <a:t>PsrA</a:t>
              </a:r>
              <a:r>
                <a:rPr lang="en-US" dirty="0">
                  <a:solidFill>
                    <a:srgbClr val="FF0000"/>
                  </a:solidFill>
                </a:rPr>
                <a:t>/</a:t>
              </a:r>
              <a:r>
                <a:rPr lang="en-US" dirty="0" err="1" smtClean="0">
                  <a:solidFill>
                    <a:srgbClr val="FF0000"/>
                  </a:solidFill>
                </a:rPr>
                <a:t>SudA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err="1" smtClean="0">
                  <a:solidFill>
                    <a:srgbClr val="FF0000"/>
                  </a:solidFill>
                </a:rPr>
                <a:t>ShyABCD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err="1" smtClean="0">
                  <a:solidFill>
                    <a:srgbClr val="FF0000"/>
                  </a:solidFill>
                </a:rPr>
                <a:t>Npsr</a:t>
              </a:r>
              <a:r>
                <a:rPr lang="en-US" dirty="0" smtClean="0">
                  <a:solidFill>
                    <a:srgbClr val="FF0000"/>
                  </a:solidFill>
                </a:rPr>
                <a:t>/</a:t>
              </a:r>
              <a:r>
                <a:rPr lang="en-US" dirty="0" err="1" smtClean="0">
                  <a:solidFill>
                    <a:srgbClr val="FF0000"/>
                  </a:solidFill>
                </a:rPr>
                <a:t>Nsr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4" name="Right Bracket 23"/>
            <p:cNvSpPr/>
            <p:nvPr/>
          </p:nvSpPr>
          <p:spPr>
            <a:xfrm rot="5400000">
              <a:off x="6971367" y="3836"/>
              <a:ext cx="442963" cy="7559895"/>
            </a:xfrm>
            <a:prstGeom prst="rightBracket">
              <a:avLst>
                <a:gd name="adj" fmla="val 67979"/>
              </a:avLst>
            </a:prstGeom>
            <a:ln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160909" y="4011910"/>
              <a:ext cx="246313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mtClean="0">
                  <a:solidFill>
                    <a:srgbClr val="FF0000"/>
                  </a:solidFill>
                </a:rPr>
                <a:t>DsrABC-DsrMKJOP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err="1" smtClean="0">
                  <a:solidFill>
                    <a:srgbClr val="FF0000"/>
                  </a:solidFill>
                </a:rPr>
                <a:t>MccA</a:t>
              </a:r>
              <a:endParaRPr lang="en-US" dirty="0">
                <a:solidFill>
                  <a:srgbClr val="FF0000"/>
                </a:solidFill>
              </a:endParaRPr>
            </a:p>
            <a:p>
              <a:r>
                <a:rPr lang="en-US" dirty="0" err="1">
                  <a:solidFill>
                    <a:srgbClr val="FF0000"/>
                  </a:solidFill>
                </a:rPr>
                <a:t>AsrABC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19" name="Right Bracket 118"/>
            <p:cNvSpPr/>
            <p:nvPr/>
          </p:nvSpPr>
          <p:spPr>
            <a:xfrm rot="16200000">
              <a:off x="4945927" y="936131"/>
              <a:ext cx="746095" cy="3812148"/>
            </a:xfrm>
            <a:prstGeom prst="rightBracket">
              <a:avLst>
                <a:gd name="adj" fmla="val 70371"/>
              </a:avLst>
            </a:prstGeom>
            <a:ln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ight Bracket 119"/>
            <p:cNvSpPr/>
            <p:nvPr/>
          </p:nvSpPr>
          <p:spPr>
            <a:xfrm rot="5400000" flipH="1">
              <a:off x="8754988" y="943364"/>
              <a:ext cx="760560" cy="3812148"/>
            </a:xfrm>
            <a:prstGeom prst="rightBracket">
              <a:avLst>
                <a:gd name="adj" fmla="val 52945"/>
              </a:avLst>
            </a:prstGeom>
            <a:ln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866165" y="2247144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>
                  <a:solidFill>
                    <a:srgbClr val="FF0000"/>
                  </a:solidFill>
                </a:rPr>
                <a:t>PhsA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8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54687" y="3351926"/>
            <a:ext cx="8018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SO</a:t>
            </a:r>
            <a:r>
              <a:rPr lang="en-US" sz="2000" baseline="-25000" dirty="0">
                <a:latin typeface="Arial" charset="0"/>
                <a:ea typeface="Arial" charset="0"/>
                <a:cs typeface="Arial" charset="0"/>
              </a:rPr>
              <a:t>4</a:t>
            </a:r>
            <a:r>
              <a:rPr lang="en-US" sz="2000" baseline="30000" dirty="0">
                <a:latin typeface="Arial" charset="0"/>
                <a:ea typeface="Arial" charset="0"/>
                <a:cs typeface="Arial" charset="0"/>
              </a:rPr>
              <a:t>2-</a:t>
            </a:r>
            <a:endParaRPr lang="en-US" sz="2000" baseline="30000" dirty="0"/>
          </a:p>
        </p:txBody>
      </p:sp>
      <p:sp>
        <p:nvSpPr>
          <p:cNvPr id="100" name="Rectangle 99"/>
          <p:cNvSpPr/>
          <p:nvPr/>
        </p:nvSpPr>
        <p:spPr>
          <a:xfrm>
            <a:off x="2766571" y="3357497"/>
            <a:ext cx="8018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SO</a:t>
            </a:r>
            <a:r>
              <a:rPr lang="en-US" sz="2000" baseline="-25000" dirty="0" smtClean="0">
                <a:latin typeface="Arial" charset="0"/>
                <a:ea typeface="Arial" charset="0"/>
                <a:cs typeface="Arial" charset="0"/>
              </a:rPr>
              <a:t>3</a:t>
            </a:r>
            <a:r>
              <a:rPr lang="en-US" sz="2000" baseline="30000" dirty="0" smtClean="0">
                <a:latin typeface="Arial" charset="0"/>
                <a:ea typeface="Arial" charset="0"/>
                <a:cs typeface="Arial" charset="0"/>
              </a:rPr>
              <a:t>2-</a:t>
            </a:r>
            <a:endParaRPr lang="en-US" sz="2000" baseline="30000" dirty="0"/>
          </a:p>
        </p:txBody>
      </p:sp>
      <p:sp>
        <p:nvSpPr>
          <p:cNvPr id="111" name="Rectangle 110"/>
          <p:cNvSpPr/>
          <p:nvPr/>
        </p:nvSpPr>
        <p:spPr>
          <a:xfrm>
            <a:off x="3959562" y="3351926"/>
            <a:ext cx="8963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S</a:t>
            </a:r>
            <a:r>
              <a:rPr lang="en-US" sz="2000" baseline="-25000" dirty="0" smtClean="0">
                <a:latin typeface="Arial" charset="0"/>
                <a:ea typeface="Arial" charset="0"/>
                <a:cs typeface="Arial" charset="0"/>
              </a:rPr>
              <a:t>4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O</a:t>
            </a:r>
            <a:r>
              <a:rPr lang="en-US" sz="2000" baseline="-25000" dirty="0">
                <a:latin typeface="Arial" charset="0"/>
                <a:ea typeface="Arial" charset="0"/>
                <a:cs typeface="Arial" charset="0"/>
              </a:rPr>
              <a:t>6</a:t>
            </a:r>
            <a:r>
              <a:rPr lang="en-US" sz="2000" baseline="30000" dirty="0" smtClean="0">
                <a:latin typeface="Arial" charset="0"/>
                <a:ea typeface="Arial" charset="0"/>
                <a:cs typeface="Arial" charset="0"/>
              </a:rPr>
              <a:t>2-</a:t>
            </a:r>
            <a:endParaRPr lang="en-US" sz="2000" baseline="30000" dirty="0"/>
          </a:p>
        </p:txBody>
      </p:sp>
      <p:sp>
        <p:nvSpPr>
          <p:cNvPr id="112" name="Rectangle 111"/>
          <p:cNvSpPr/>
          <p:nvPr/>
        </p:nvSpPr>
        <p:spPr>
          <a:xfrm>
            <a:off x="6485076" y="3351926"/>
            <a:ext cx="8963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S</a:t>
            </a:r>
            <a:r>
              <a:rPr lang="en-US" sz="2000" baseline="-25000" dirty="0" smtClean="0">
                <a:latin typeface="Arial" charset="0"/>
                <a:ea typeface="Arial" charset="0"/>
                <a:cs typeface="Arial" charset="0"/>
              </a:rPr>
              <a:t>2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O</a:t>
            </a:r>
            <a:r>
              <a:rPr lang="en-US" sz="2000" baseline="-25000" dirty="0">
                <a:latin typeface="Arial" charset="0"/>
                <a:ea typeface="Arial" charset="0"/>
                <a:cs typeface="Arial" charset="0"/>
              </a:rPr>
              <a:t>3</a:t>
            </a:r>
            <a:r>
              <a:rPr lang="en-US" sz="2000" baseline="30000" dirty="0" smtClean="0">
                <a:latin typeface="Arial" charset="0"/>
                <a:ea typeface="Arial" charset="0"/>
                <a:cs typeface="Arial" charset="0"/>
              </a:rPr>
              <a:t>2-</a:t>
            </a:r>
            <a:endParaRPr lang="en-US" sz="2000" baseline="30000" dirty="0"/>
          </a:p>
        </p:txBody>
      </p:sp>
      <p:sp>
        <p:nvSpPr>
          <p:cNvPr id="113" name="Rectangle 112"/>
          <p:cNvSpPr/>
          <p:nvPr/>
        </p:nvSpPr>
        <p:spPr>
          <a:xfrm>
            <a:off x="7903270" y="3341757"/>
            <a:ext cx="6687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S(0)</a:t>
            </a:r>
            <a:endParaRPr lang="en-US" sz="2000" baseline="30000" dirty="0"/>
          </a:p>
        </p:txBody>
      </p:sp>
      <p:sp>
        <p:nvSpPr>
          <p:cNvPr id="114" name="Rectangle 113"/>
          <p:cNvSpPr/>
          <p:nvPr/>
        </p:nvSpPr>
        <p:spPr>
          <a:xfrm>
            <a:off x="10416873" y="3351926"/>
            <a:ext cx="5998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HS</a:t>
            </a:r>
            <a:r>
              <a:rPr lang="en-US" sz="2000" baseline="30000" dirty="0" smtClean="0">
                <a:latin typeface="Arial" charset="0"/>
                <a:ea typeface="Arial" charset="0"/>
                <a:cs typeface="Arial" charset="0"/>
              </a:rPr>
              <a:t>-</a:t>
            </a:r>
            <a:endParaRPr lang="en-US" sz="2000" baseline="30000" dirty="0"/>
          </a:p>
        </p:txBody>
      </p:sp>
      <p:sp>
        <p:nvSpPr>
          <p:cNvPr id="24" name="Right Bracket 23"/>
          <p:cNvSpPr/>
          <p:nvPr/>
        </p:nvSpPr>
        <p:spPr>
          <a:xfrm rot="16200000" flipH="1">
            <a:off x="6058292" y="819180"/>
            <a:ext cx="1763852" cy="7555834"/>
          </a:xfrm>
          <a:prstGeom prst="rightBracket">
            <a:avLst>
              <a:gd name="adj" fmla="val 58713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Bracket 119"/>
          <p:cNvSpPr/>
          <p:nvPr/>
        </p:nvSpPr>
        <p:spPr>
          <a:xfrm rot="5400000" flipH="1">
            <a:off x="8368454" y="1013390"/>
            <a:ext cx="943718" cy="3755637"/>
          </a:xfrm>
          <a:prstGeom prst="rightBracket">
            <a:avLst>
              <a:gd name="adj" fmla="val 52945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ket 20"/>
          <p:cNvSpPr/>
          <p:nvPr/>
        </p:nvSpPr>
        <p:spPr>
          <a:xfrm rot="5400000" flipH="1">
            <a:off x="5013842" y="1724785"/>
            <a:ext cx="938148" cy="2392591"/>
          </a:xfrm>
          <a:prstGeom prst="rightBracket">
            <a:avLst>
              <a:gd name="adj" fmla="val 52945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ket 21"/>
          <p:cNvSpPr/>
          <p:nvPr/>
        </p:nvSpPr>
        <p:spPr>
          <a:xfrm rot="5400000" flipH="1">
            <a:off x="9245063" y="2063618"/>
            <a:ext cx="330108" cy="2292856"/>
          </a:xfrm>
          <a:prstGeom prst="rightBracket">
            <a:avLst>
              <a:gd name="adj" fmla="val 52945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ket 22"/>
          <p:cNvSpPr/>
          <p:nvPr/>
        </p:nvSpPr>
        <p:spPr>
          <a:xfrm rot="16200000" flipH="1">
            <a:off x="1791807" y="3133353"/>
            <a:ext cx="530810" cy="1747841"/>
          </a:xfrm>
          <a:prstGeom prst="rightBracket">
            <a:avLst>
              <a:gd name="adj" fmla="val 52945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457183" y="2459496"/>
            <a:ext cx="17453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dirty="0" err="1" smtClean="0"/>
              <a:t>Otr</a:t>
            </a:r>
            <a:r>
              <a:rPr lang="cs-CZ" dirty="0" smtClean="0"/>
              <a:t>: UBA7797</a:t>
            </a:r>
            <a:endParaRPr lang="en-US" dirty="0" smtClean="0"/>
          </a:p>
        </p:txBody>
      </p:sp>
      <p:sp>
        <p:nvSpPr>
          <p:cNvPr id="25" name="Rectangle 24"/>
          <p:cNvSpPr/>
          <p:nvPr/>
        </p:nvSpPr>
        <p:spPr>
          <a:xfrm>
            <a:off x="4448820" y="1835631"/>
            <a:ext cx="22199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TtrA</a:t>
            </a:r>
            <a:r>
              <a:rPr lang="en-US" dirty="0" smtClean="0"/>
              <a:t>: </a:t>
            </a:r>
            <a:r>
              <a:rPr lang="en-US" dirty="0" err="1" smtClean="0"/>
              <a:t>Halomonas</a:t>
            </a:r>
            <a:r>
              <a:rPr lang="en-US" dirty="0" smtClean="0"/>
              <a:t> </a:t>
            </a:r>
            <a:r>
              <a:rPr lang="en-US" dirty="0"/>
              <a:t>sp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Marinobacter</a:t>
            </a:r>
            <a:r>
              <a:rPr lang="en-US" dirty="0" smtClean="0"/>
              <a:t> sp.</a:t>
            </a:r>
            <a:endParaRPr lang="cs-CZ" dirty="0" smtClean="0"/>
          </a:p>
        </p:txBody>
      </p:sp>
      <p:sp>
        <p:nvSpPr>
          <p:cNvPr id="4" name="Rectangle 3"/>
          <p:cNvSpPr/>
          <p:nvPr/>
        </p:nvSpPr>
        <p:spPr>
          <a:xfrm>
            <a:off x="7938838" y="2095225"/>
            <a:ext cx="2545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phsA</a:t>
            </a:r>
            <a:r>
              <a:rPr lang="en-US" dirty="0" smtClean="0"/>
              <a:t>: UBA1014 (SAR426)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8134362" y="2720868"/>
            <a:ext cx="2502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psrA</a:t>
            </a:r>
            <a:r>
              <a:rPr lang="en-US" dirty="0" smtClean="0"/>
              <a:t>: UBA1014 (SAR426)</a:t>
            </a:r>
            <a:endParaRPr lang="en-US" dirty="0"/>
          </a:p>
        </p:txBody>
      </p:sp>
      <p:sp>
        <p:nvSpPr>
          <p:cNvPr id="32" name="Right Bracket 31"/>
          <p:cNvSpPr/>
          <p:nvPr/>
        </p:nvSpPr>
        <p:spPr>
          <a:xfrm rot="16200000" flipH="1">
            <a:off x="5087521" y="2902884"/>
            <a:ext cx="966831" cy="2580260"/>
          </a:xfrm>
          <a:prstGeom prst="rightBracket">
            <a:avLst>
              <a:gd name="adj" fmla="val 52945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20839" y="4058023"/>
            <a:ext cx="20474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doxD</a:t>
            </a:r>
            <a:r>
              <a:rPr lang="en-US" dirty="0"/>
              <a:t>: </a:t>
            </a:r>
            <a:r>
              <a:rPr lang="en-US" dirty="0" err="1"/>
              <a:t>Mesonia</a:t>
            </a:r>
            <a:r>
              <a:rPr lang="en-US" dirty="0"/>
              <a:t> sp</a:t>
            </a:r>
            <a:r>
              <a:rPr lang="en-US" dirty="0" smtClean="0"/>
              <a:t>. </a:t>
            </a:r>
            <a:r>
              <a:rPr lang="en-US" dirty="0" err="1"/>
              <a:t>Mesoflavibacter</a:t>
            </a:r>
            <a:r>
              <a:rPr lang="en-US" dirty="0"/>
              <a:t> sp.</a:t>
            </a:r>
          </a:p>
        </p:txBody>
      </p:sp>
      <p:sp>
        <p:nvSpPr>
          <p:cNvPr id="33" name="Right Bracket 32"/>
          <p:cNvSpPr/>
          <p:nvPr/>
        </p:nvSpPr>
        <p:spPr>
          <a:xfrm rot="16200000" flipH="1">
            <a:off x="9245063" y="2717850"/>
            <a:ext cx="330108" cy="2292856"/>
          </a:xfrm>
          <a:prstGeom prst="rightBracket">
            <a:avLst>
              <a:gd name="adj" fmla="val 52945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76747" y="4003593"/>
            <a:ext cx="24221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fccB</a:t>
            </a:r>
            <a:r>
              <a:rPr lang="en-US" dirty="0"/>
              <a:t>: </a:t>
            </a:r>
            <a:r>
              <a:rPr lang="is-IS" dirty="0"/>
              <a:t>GCA−</a:t>
            </a:r>
            <a:r>
              <a:rPr lang="is-IS" dirty="0" smtClean="0"/>
              <a:t>002705045</a:t>
            </a:r>
          </a:p>
          <a:p>
            <a:r>
              <a:rPr lang="en-US" dirty="0" smtClean="0"/>
              <a:t>MED</a:t>
            </a:r>
            <a:r>
              <a:rPr lang="en-US" dirty="0"/>
              <a:t>−G52; TMED54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587" y="4272677"/>
            <a:ext cx="27432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soeA</a:t>
            </a:r>
            <a:r>
              <a:rPr lang="en-US" dirty="0" smtClean="0"/>
              <a:t>: </a:t>
            </a:r>
            <a:r>
              <a:rPr lang="is-IS" dirty="0" smtClean="0"/>
              <a:t>GCA-002705045</a:t>
            </a:r>
            <a:r>
              <a:rPr lang="en-US" dirty="0"/>
              <a:t>; </a:t>
            </a:r>
          </a:p>
          <a:p>
            <a:r>
              <a:rPr lang="en-US" dirty="0" smtClean="0"/>
              <a:t>MED-G52</a:t>
            </a:r>
            <a:r>
              <a:rPr lang="en-US" dirty="0"/>
              <a:t>; </a:t>
            </a:r>
            <a:r>
              <a:rPr lang="en-US" dirty="0" err="1"/>
              <a:t>Paracoccus</a:t>
            </a:r>
            <a:r>
              <a:rPr lang="en-US" dirty="0"/>
              <a:t> </a:t>
            </a:r>
          </a:p>
          <a:p>
            <a:r>
              <a:rPr lang="en-US" dirty="0" err="1" smtClean="0"/>
              <a:t>Salipiger</a:t>
            </a:r>
            <a:r>
              <a:rPr lang="en-US" dirty="0" smtClean="0"/>
              <a:t>; </a:t>
            </a:r>
            <a:r>
              <a:rPr lang="is-IS" dirty="0" smtClean="0"/>
              <a:t>UBA8309; </a:t>
            </a:r>
            <a:r>
              <a:rPr lang="de-DE" dirty="0" smtClean="0"/>
              <a:t>HIMB100; </a:t>
            </a:r>
            <a:r>
              <a:rPr lang="en-US" dirty="0" smtClean="0"/>
              <a:t>GCA</a:t>
            </a:r>
            <a:r>
              <a:rPr lang="en-US" dirty="0"/>
              <a:t>-</a:t>
            </a:r>
            <a:r>
              <a:rPr lang="en-US" dirty="0" smtClean="0"/>
              <a:t>002701455 </a:t>
            </a:r>
            <a:endParaRPr lang="en-US" dirty="0"/>
          </a:p>
          <a:p>
            <a:r>
              <a:rPr lang="en-US" dirty="0" smtClean="0"/>
              <a:t> </a:t>
            </a:r>
          </a:p>
          <a:p>
            <a:r>
              <a:rPr lang="en-US" dirty="0" err="1" smtClean="0"/>
              <a:t>sorA</a:t>
            </a:r>
            <a:r>
              <a:rPr lang="en-US" dirty="0" smtClean="0"/>
              <a:t>: </a:t>
            </a:r>
            <a:r>
              <a:rPr lang="en-US" dirty="0" err="1" smtClean="0"/>
              <a:t>Alteromonas</a:t>
            </a:r>
            <a:r>
              <a:rPr lang="en-US" dirty="0" smtClean="0"/>
              <a:t>; </a:t>
            </a:r>
            <a:r>
              <a:rPr lang="is-IS" dirty="0" smtClean="0"/>
              <a:t>SP4260; UBA9145; </a:t>
            </a:r>
            <a:r>
              <a:rPr lang="en-US" dirty="0" err="1" smtClean="0"/>
              <a:t>Pelagibacter</a:t>
            </a:r>
            <a:r>
              <a:rPr lang="en-US" dirty="0" smtClean="0"/>
              <a:t>; </a:t>
            </a:r>
            <a:r>
              <a:rPr lang="fi-FI" dirty="0" smtClean="0"/>
              <a:t>AG</a:t>
            </a:r>
            <a:r>
              <a:rPr lang="fi-FI" dirty="0"/>
              <a:t>−414−E02 </a:t>
            </a:r>
          </a:p>
          <a:p>
            <a:r>
              <a:rPr lang="fi-FI" dirty="0" err="1"/>
              <a:t>Marinobacter</a:t>
            </a:r>
            <a:r>
              <a:rPr lang="fi-FI" dirty="0"/>
              <a:t> </a:t>
            </a:r>
            <a:endParaRPr lang="fi-FI" dirty="0" smtClean="0"/>
          </a:p>
        </p:txBody>
      </p:sp>
      <p:sp>
        <p:nvSpPr>
          <p:cNvPr id="35" name="Right Bracket 34"/>
          <p:cNvSpPr/>
          <p:nvPr/>
        </p:nvSpPr>
        <p:spPr>
          <a:xfrm rot="5400000" flipH="1" flipV="1">
            <a:off x="3172226" y="-331341"/>
            <a:ext cx="1763852" cy="5597109"/>
          </a:xfrm>
          <a:prstGeom prst="rightBracket">
            <a:avLst>
              <a:gd name="adj" fmla="val 58713"/>
            </a:avLst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83239" y="1201251"/>
            <a:ext cx="4601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dirty="0" err="1" smtClean="0"/>
              <a:t>SoxB</a:t>
            </a:r>
            <a:r>
              <a:rPr lang="da-DK" dirty="0" smtClean="0"/>
              <a:t>: TMED54; </a:t>
            </a:r>
            <a:r>
              <a:rPr lang="is-IS" dirty="0"/>
              <a:t>GCA−</a:t>
            </a:r>
            <a:r>
              <a:rPr lang="is-IS" dirty="0" smtClean="0"/>
              <a:t>002705045; </a:t>
            </a:r>
            <a:r>
              <a:rPr lang="en-US" dirty="0" err="1" smtClean="0"/>
              <a:t>Sulfitobacter</a:t>
            </a:r>
            <a:r>
              <a:rPr lang="da-DK" dirty="0" smtClean="0"/>
              <a:t>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2960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30371" y="2238965"/>
            <a:ext cx="10607472" cy="2424902"/>
            <a:chOff x="930371" y="2238965"/>
            <a:chExt cx="10607472" cy="2424902"/>
          </a:xfrm>
        </p:grpSpPr>
        <p:grpSp>
          <p:nvGrpSpPr>
            <p:cNvPr id="3" name="Group 2"/>
            <p:cNvGrpSpPr/>
            <p:nvPr/>
          </p:nvGrpSpPr>
          <p:grpSpPr>
            <a:xfrm>
              <a:off x="930371" y="2238965"/>
              <a:ext cx="10607472" cy="2199522"/>
              <a:chOff x="930371" y="2238965"/>
              <a:chExt cx="10607472" cy="2199522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0798538" y="2958423"/>
                <a:ext cx="7393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baseline="-25000" dirty="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baseline="30000" dirty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8867254" y="2956057"/>
                <a:ext cx="7393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baseline="-25000" dirty="0" smtClean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6969462" y="2971823"/>
                <a:ext cx="8242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baseline="-25000" dirty="0" smtClean="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baseline="-25000" dirty="0">
                    <a:latin typeface="Arial" charset="0"/>
                    <a:ea typeface="Arial" charset="0"/>
                    <a:cs typeface="Arial" charset="0"/>
                  </a:rPr>
                  <a:t>6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4837019" y="2971823"/>
                <a:ext cx="8242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baseline="-25000" dirty="0" smtClean="0">
                    <a:latin typeface="Arial" charset="0"/>
                    <a:ea typeface="Arial" charset="0"/>
                    <a:cs typeface="Arial" charset="0"/>
                  </a:rPr>
                  <a:t>2</a:t>
                </a:r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2848391" y="2971823"/>
                <a:ext cx="6206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S(0)</a:t>
                </a:r>
                <a:endParaRPr lang="en-US" baseline="30000" dirty="0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930371" y="2971823"/>
                <a:ext cx="556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HS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-</a:t>
                </a:r>
                <a:endParaRPr lang="en-US" baseline="30000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888377" y="2494392"/>
                <a:ext cx="7390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FccBA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Sqr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16" name="Straight Arrow Connector 15"/>
              <p:cNvCxnSpPr/>
              <p:nvPr/>
            </p:nvCxnSpPr>
            <p:spPr>
              <a:xfrm>
                <a:off x="9622325" y="3158976"/>
                <a:ext cx="11787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/>
              <p:cNvCxnSpPr/>
              <p:nvPr/>
            </p:nvCxnSpPr>
            <p:spPr>
              <a:xfrm>
                <a:off x="5773051" y="3156489"/>
                <a:ext cx="11787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ight Bracket 23"/>
              <p:cNvSpPr/>
              <p:nvPr/>
            </p:nvSpPr>
            <p:spPr>
              <a:xfrm rot="5400000">
                <a:off x="4804836" y="-315729"/>
                <a:ext cx="742976" cy="7935347"/>
              </a:xfrm>
              <a:prstGeom prst="rightBracket">
                <a:avLst>
                  <a:gd name="adj" fmla="val 31906"/>
                </a:avLst>
              </a:prstGeom>
              <a:ln>
                <a:solidFill>
                  <a:schemeClr val="tx1"/>
                </a:solidFill>
                <a:headEnd type="stealth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ight Bracket 118"/>
              <p:cNvSpPr/>
              <p:nvPr/>
            </p:nvSpPr>
            <p:spPr>
              <a:xfrm rot="16200000">
                <a:off x="3907987" y="1774378"/>
                <a:ext cx="456109" cy="2013843"/>
              </a:xfrm>
              <a:prstGeom prst="rightBracket">
                <a:avLst>
                  <a:gd name="adj" fmla="val 53649"/>
                </a:avLst>
              </a:prstGeom>
              <a:ln>
                <a:solidFill>
                  <a:schemeClr val="tx1"/>
                </a:solidFill>
                <a:headEnd type="stealth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ight Bracket 119"/>
              <p:cNvSpPr/>
              <p:nvPr/>
            </p:nvSpPr>
            <p:spPr>
              <a:xfrm rot="16200000" flipH="1" flipV="1">
                <a:off x="5964545" y="462690"/>
                <a:ext cx="331186" cy="6002034"/>
              </a:xfrm>
              <a:prstGeom prst="rightBracket">
                <a:avLst>
                  <a:gd name="adj" fmla="val 65623"/>
                </a:avLst>
              </a:prstGeom>
              <a:ln>
                <a:solidFill>
                  <a:schemeClr val="tx1"/>
                </a:solidFill>
                <a:headEnd type="stealth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>
                <a:off x="1568331" y="3156489"/>
                <a:ext cx="11787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912242" y="4018578"/>
                <a:ext cx="3196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DsrABC-DsrEFH-DsrMKJOP-DsrL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797722" y="3548727"/>
                <a:ext cx="534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Sdo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89275" y="2798663"/>
                <a:ext cx="13462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TsdA</a:t>
                </a:r>
                <a:r>
                  <a:rPr lang="en-US" dirty="0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DoxDA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620728" y="3238158"/>
                <a:ext cx="16878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AprBA-QmoABC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SorA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SorT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  <a:p>
                <a:r>
                  <a:rPr lang="en-US" dirty="0" err="1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SoeA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6" name="Right Bracket 25"/>
              <p:cNvSpPr/>
              <p:nvPr/>
            </p:nvSpPr>
            <p:spPr>
              <a:xfrm rot="5400000" flipH="1">
                <a:off x="7858715" y="-140443"/>
                <a:ext cx="456109" cy="5866651"/>
              </a:xfrm>
              <a:prstGeom prst="rightBracket">
                <a:avLst>
                  <a:gd name="adj" fmla="val 53649"/>
                </a:avLst>
              </a:prstGeom>
              <a:ln>
                <a:solidFill>
                  <a:schemeClr val="tx1"/>
                </a:solidFill>
                <a:headEnd type="stealth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381626" y="2238965"/>
                <a:ext cx="17538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SoxABXYZ-SoxCD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3912242" y="4294535"/>
              <a:ext cx="36984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rPr>
                <a:t>sHdrA-B1-C1-B2-C2 / sHdrA-B1-C1-B3</a:t>
              </a:r>
              <a:endParaRPr lang="en-US" dirty="0" smtClean="0">
                <a:solidFill>
                  <a:srgbClr val="FF0000"/>
                </a:solidFill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452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58489" y="1877625"/>
            <a:ext cx="10607472" cy="1807351"/>
            <a:chOff x="914606" y="2065426"/>
            <a:chExt cx="10607472" cy="1807351"/>
          </a:xfrm>
        </p:grpSpPr>
        <p:grpSp>
          <p:nvGrpSpPr>
            <p:cNvPr id="3" name="Group 2"/>
            <p:cNvGrpSpPr/>
            <p:nvPr/>
          </p:nvGrpSpPr>
          <p:grpSpPr>
            <a:xfrm>
              <a:off x="914606" y="2065426"/>
              <a:ext cx="10607472" cy="1425055"/>
              <a:chOff x="930371" y="2160019"/>
              <a:chExt cx="10607472" cy="1425055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0798538" y="2958423"/>
                <a:ext cx="7393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baseline="-25000" dirty="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baseline="30000" dirty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8867254" y="2956057"/>
                <a:ext cx="7393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baseline="-25000" dirty="0" smtClean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6969462" y="2971823"/>
                <a:ext cx="8242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baseline="-25000" dirty="0" smtClean="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baseline="-25000" dirty="0">
                    <a:latin typeface="Arial" charset="0"/>
                    <a:ea typeface="Arial" charset="0"/>
                    <a:cs typeface="Arial" charset="0"/>
                  </a:rPr>
                  <a:t>6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4837019" y="2971823"/>
                <a:ext cx="8242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baseline="-25000" dirty="0" smtClean="0">
                    <a:latin typeface="Arial" charset="0"/>
                    <a:ea typeface="Arial" charset="0"/>
                    <a:cs typeface="Arial" charset="0"/>
                  </a:rPr>
                  <a:t>2</a:t>
                </a:r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baseline="30000" dirty="0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2848391" y="2971823"/>
                <a:ext cx="6206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S(0)</a:t>
                </a:r>
                <a:endParaRPr lang="en-US" baseline="30000" dirty="0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930371" y="2971823"/>
                <a:ext cx="556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Arial" charset="0"/>
                    <a:ea typeface="Arial" charset="0"/>
                    <a:cs typeface="Arial" charset="0"/>
                  </a:rPr>
                  <a:t>HS</a:t>
                </a:r>
                <a:r>
                  <a:rPr lang="en-US" baseline="30000" dirty="0" smtClean="0">
                    <a:latin typeface="Arial" charset="0"/>
                    <a:ea typeface="Arial" charset="0"/>
                    <a:cs typeface="Arial" charset="0"/>
                  </a:rPr>
                  <a:t>-</a:t>
                </a:r>
                <a:endParaRPr lang="en-US" baseline="30000" dirty="0"/>
              </a:p>
            </p:txBody>
          </p:sp>
          <p:sp>
            <p:nvSpPr>
              <p:cNvPr id="119" name="Right Bracket 118"/>
              <p:cNvSpPr/>
              <p:nvPr/>
            </p:nvSpPr>
            <p:spPr>
              <a:xfrm rot="16200000">
                <a:off x="1947454" y="1781326"/>
                <a:ext cx="456109" cy="1907226"/>
              </a:xfrm>
              <a:prstGeom prst="rightBracket">
                <a:avLst>
                  <a:gd name="adj" fmla="val 53649"/>
                </a:avLst>
              </a:prstGeom>
              <a:ln>
                <a:solidFill>
                  <a:schemeClr val="tx1"/>
                </a:solidFill>
                <a:headEnd type="stealth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ight Bracket 119"/>
              <p:cNvSpPr/>
              <p:nvPr/>
            </p:nvSpPr>
            <p:spPr>
              <a:xfrm rot="16200000" flipH="1" flipV="1">
                <a:off x="9066659" y="1558238"/>
                <a:ext cx="284917" cy="3768756"/>
              </a:xfrm>
              <a:prstGeom prst="rightBracket">
                <a:avLst>
                  <a:gd name="adj" fmla="val 62832"/>
                </a:avLst>
              </a:prstGeom>
              <a:ln>
                <a:solidFill>
                  <a:schemeClr val="tx1"/>
                </a:solidFill>
                <a:headEnd type="stealth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ight Bracket 25"/>
              <p:cNvSpPr/>
              <p:nvPr/>
            </p:nvSpPr>
            <p:spPr>
              <a:xfrm rot="5400000" flipH="1">
                <a:off x="5908504" y="-262786"/>
                <a:ext cx="456109" cy="6014877"/>
              </a:xfrm>
              <a:prstGeom prst="rightBracket">
                <a:avLst>
                  <a:gd name="adj" fmla="val 53649"/>
                </a:avLst>
              </a:prstGeom>
              <a:ln>
                <a:solidFill>
                  <a:schemeClr val="tx1"/>
                </a:solidFill>
                <a:headEnd type="stealth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881827" y="2160019"/>
                <a:ext cx="567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mtClean="0">
                    <a:solidFill>
                      <a:srgbClr val="FF0000"/>
                    </a:solidFill>
                    <a:ea typeface="Arial" charset="0"/>
                    <a:cs typeface="Arial" charset="0"/>
                  </a:rPr>
                  <a:t>SOR</a:t>
                </a:r>
                <a:endParaRPr lang="en-US" dirty="0" smtClean="0">
                  <a:solidFill>
                    <a:srgbClr val="FF0000"/>
                  </a:solidFill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29" name="Right Bracket 28"/>
            <p:cNvSpPr/>
            <p:nvPr/>
          </p:nvSpPr>
          <p:spPr>
            <a:xfrm rot="5400000" flipV="1">
              <a:off x="6105328" y="2299562"/>
              <a:ext cx="284917" cy="2122374"/>
            </a:xfrm>
            <a:prstGeom prst="rightBracket">
              <a:avLst>
                <a:gd name="adj" fmla="val 93530"/>
              </a:avLst>
            </a:prstGeom>
            <a:ln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Bracket 29"/>
            <p:cNvSpPr/>
            <p:nvPr/>
          </p:nvSpPr>
          <p:spPr>
            <a:xfrm rot="5400000" flipV="1">
              <a:off x="4885439" y="1449242"/>
              <a:ext cx="651453" cy="4195618"/>
            </a:xfrm>
            <a:prstGeom prst="rightBracket">
              <a:avLst>
                <a:gd name="adj" fmla="val 72470"/>
              </a:avLst>
            </a:prstGeom>
            <a:ln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71723" y="3503443"/>
              <a:ext cx="612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solidFill>
                    <a:srgbClr val="FF0000"/>
                  </a:solidFill>
                  <a:ea typeface="Arial" charset="0"/>
                  <a:cs typeface="Arial" charset="0"/>
                </a:rPr>
                <a:t>TetH</a:t>
              </a:r>
              <a:endParaRPr lang="en-US" dirty="0" smtClean="0">
                <a:solidFill>
                  <a:srgbClr val="FF0000"/>
                </a:solidFill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1433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421276" y="801111"/>
            <a:ext cx="3789503" cy="4942849"/>
            <a:chOff x="875439" y="-1372252"/>
            <a:chExt cx="5819789" cy="7591062"/>
          </a:xfrm>
        </p:grpSpPr>
        <p:grpSp>
          <p:nvGrpSpPr>
            <p:cNvPr id="3" name="Group 2"/>
            <p:cNvGrpSpPr>
              <a:grpSpLocks noChangeAspect="1"/>
            </p:cNvGrpSpPr>
            <p:nvPr/>
          </p:nvGrpSpPr>
          <p:grpSpPr>
            <a:xfrm>
              <a:off x="875439" y="-1372252"/>
              <a:ext cx="5819789" cy="7078167"/>
              <a:chOff x="461873" y="-3489810"/>
              <a:chExt cx="8349726" cy="10155100"/>
            </a:xfrm>
          </p:grpSpPr>
          <p:sp>
            <p:nvSpPr>
              <p:cNvPr id="25" name="Arc 24"/>
              <p:cNvSpPr/>
              <p:nvPr/>
            </p:nvSpPr>
            <p:spPr>
              <a:xfrm rot="10800000">
                <a:off x="3411599" y="-3489810"/>
                <a:ext cx="5400000" cy="5400000"/>
              </a:xfrm>
              <a:prstGeom prst="arc">
                <a:avLst>
                  <a:gd name="adj1" fmla="val 16609877"/>
                  <a:gd name="adj2" fmla="val 19087875"/>
                </a:avLst>
              </a:prstGeom>
              <a:ln w="127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3504859" y="466040"/>
                <a:ext cx="1014058" cy="61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HS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−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846141" y="1684067"/>
                <a:ext cx="1274873" cy="61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S(0)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822406" y="4582881"/>
                <a:ext cx="1411498" cy="61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12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332295" y="5783697"/>
                <a:ext cx="1241031" cy="881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1200" baseline="-25000" dirty="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61873" y="3243666"/>
                <a:ext cx="1359207" cy="61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SO</a:t>
                </a:r>
                <a:r>
                  <a:rPr lang="en-US" sz="12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429670" y="3124016"/>
                <a:ext cx="1455936" cy="61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sz="1200" baseline="-25000" dirty="0">
                    <a:latin typeface="Arial" charset="0"/>
                    <a:ea typeface="Arial" charset="0"/>
                    <a:cs typeface="Arial" charset="0"/>
                  </a:rPr>
                  <a:t>2</a:t>
                </a:r>
                <a:r>
                  <a:rPr lang="en-US" sz="1200" dirty="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sz="1200" baseline="-25000" dirty="0">
                    <a:latin typeface="Arial" charset="0"/>
                    <a:ea typeface="Arial" charset="0"/>
                    <a:cs typeface="Arial" charset="0"/>
                  </a:rPr>
                  <a:t>3</a:t>
                </a:r>
                <a:r>
                  <a:rPr lang="en-US" sz="1200" baseline="30000" dirty="0">
                    <a:latin typeface="Arial" charset="0"/>
                    <a:ea typeface="Arial" charset="0"/>
                    <a:cs typeface="Arial" charset="0"/>
                  </a:rPr>
                  <a:t>2−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004907" y="3176430"/>
                <a:ext cx="1634390" cy="61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>
                    <a:latin typeface="Arial" charset="0"/>
                    <a:ea typeface="Arial" charset="0"/>
                    <a:cs typeface="Arial" charset="0"/>
                  </a:rPr>
                  <a:t>S</a:t>
                </a:r>
                <a:r>
                  <a:rPr lang="en-US" sz="1200" baseline="-25000">
                    <a:latin typeface="Arial" charset="0"/>
                    <a:ea typeface="Arial" charset="0"/>
                    <a:cs typeface="Arial" charset="0"/>
                  </a:rPr>
                  <a:t>4</a:t>
                </a:r>
                <a:r>
                  <a:rPr lang="en-US" sz="1200">
                    <a:latin typeface="Arial" charset="0"/>
                    <a:ea typeface="Arial" charset="0"/>
                    <a:cs typeface="Arial" charset="0"/>
                  </a:rPr>
                  <a:t>O</a:t>
                </a:r>
                <a:r>
                  <a:rPr lang="en-US" sz="1200" baseline="-25000">
                    <a:latin typeface="Arial" charset="0"/>
                    <a:ea typeface="Arial" charset="0"/>
                    <a:cs typeface="Arial" charset="0"/>
                  </a:rPr>
                  <a:t>6</a:t>
                </a:r>
                <a:r>
                  <a:rPr lang="en-US" sz="1200" baseline="30000">
                    <a:latin typeface="Arial" charset="0"/>
                    <a:ea typeface="Arial" charset="0"/>
                    <a:cs typeface="Arial" charset="0"/>
                  </a:rPr>
                  <a:t>2-</a:t>
                </a:r>
                <a:endParaRPr lang="en-US" sz="1200" baseline="30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0" name="Arc 19"/>
              <p:cNvSpPr/>
              <p:nvPr/>
            </p:nvSpPr>
            <p:spPr>
              <a:xfrm>
                <a:off x="1256941" y="814563"/>
                <a:ext cx="5399999" cy="5400000"/>
              </a:xfrm>
              <a:prstGeom prst="arc">
                <a:avLst>
                  <a:gd name="adj1" fmla="val 19870984"/>
                  <a:gd name="adj2" fmla="val 1541901"/>
                </a:avLst>
              </a:prstGeom>
              <a:ln w="12700">
                <a:solidFill>
                  <a:schemeClr val="tx1"/>
                </a:solidFill>
                <a:headEnd type="none" w="sm" len="sm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" name="Arc 20"/>
              <p:cNvSpPr/>
              <p:nvPr/>
            </p:nvSpPr>
            <p:spPr>
              <a:xfrm>
                <a:off x="1222866" y="749049"/>
                <a:ext cx="5400000" cy="5400000"/>
              </a:xfrm>
              <a:prstGeom prst="arc">
                <a:avLst>
                  <a:gd name="adj1" fmla="val 2252185"/>
                  <a:gd name="adj2" fmla="val 4825438"/>
                </a:avLst>
              </a:prstGeom>
              <a:ln w="127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1217925" y="733849"/>
                <a:ext cx="5400000" cy="5400000"/>
              </a:xfrm>
              <a:prstGeom prst="arc">
                <a:avLst>
                  <a:gd name="adj1" fmla="val 8533275"/>
                  <a:gd name="adj2" fmla="val 10382662"/>
                </a:avLst>
              </a:prstGeom>
              <a:ln w="12700">
                <a:solidFill>
                  <a:schemeClr val="tx1"/>
                </a:solidFill>
                <a:prstDash val="dash"/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3" name="Arc 22"/>
              <p:cNvSpPr/>
              <p:nvPr/>
            </p:nvSpPr>
            <p:spPr>
              <a:xfrm>
                <a:off x="1217925" y="733622"/>
                <a:ext cx="5400000" cy="5400000"/>
              </a:xfrm>
              <a:prstGeom prst="arc">
                <a:avLst>
                  <a:gd name="adj1" fmla="val 11046857"/>
                  <a:gd name="adj2" fmla="val 15728889"/>
                </a:avLst>
              </a:prstGeom>
              <a:ln w="12700">
                <a:solidFill>
                  <a:schemeClr val="tx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 flipV="1">
                <a:off x="3612492" y="3332637"/>
                <a:ext cx="151199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 18"/>
              <p:cNvSpPr/>
              <p:nvPr/>
            </p:nvSpPr>
            <p:spPr>
              <a:xfrm>
                <a:off x="1339597" y="784774"/>
                <a:ext cx="5399999" cy="5400000"/>
              </a:xfrm>
              <a:prstGeom prst="arc">
                <a:avLst>
                  <a:gd name="adj1" fmla="val 16609877"/>
                  <a:gd name="adj2" fmla="val 19087875"/>
                </a:avLst>
              </a:prstGeom>
              <a:ln w="1270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3542606" y="3530680"/>
                <a:ext cx="151199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2823552" y="3676151"/>
                <a:ext cx="1069267" cy="216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 flipH="1">
                <a:off x="1557192" y="3453359"/>
                <a:ext cx="936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/>
              <p:cNvSpPr txBox="1"/>
              <p:nvPr/>
            </p:nvSpPr>
            <p:spPr>
              <a:xfrm>
                <a:off x="1480257" y="5000325"/>
                <a:ext cx="1106246" cy="61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>
                    <a:latin typeface="Arial" charset="0"/>
                    <a:ea typeface="Arial" charset="0"/>
                    <a:cs typeface="Arial" charset="0"/>
                  </a:rPr>
                  <a:t>APS</a:t>
                </a:r>
                <a:endParaRPr lang="en-US" sz="1200" baseline="30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1" name="Arc 70"/>
              <p:cNvSpPr/>
              <p:nvPr/>
            </p:nvSpPr>
            <p:spPr>
              <a:xfrm>
                <a:off x="1230642" y="748822"/>
                <a:ext cx="5400000" cy="5400000"/>
              </a:xfrm>
              <a:prstGeom prst="arc">
                <a:avLst>
                  <a:gd name="adj1" fmla="val 6046598"/>
                  <a:gd name="adj2" fmla="val 7840905"/>
                </a:avLst>
              </a:prstGeom>
              <a:ln w="12700">
                <a:solidFill>
                  <a:schemeClr val="tx1"/>
                </a:solidFill>
                <a:prstDash val="dash"/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9" name="TextBox 8"/>
            <p:cNvSpPr txBox="1">
              <a:spLocks noChangeAspect="1"/>
            </p:cNvSpPr>
            <p:nvPr/>
          </p:nvSpPr>
          <p:spPr>
            <a:xfrm>
              <a:off x="4160573" y="777832"/>
              <a:ext cx="1411125" cy="1087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 smtClean="0"/>
                <a:t>Oceanicaulis</a:t>
              </a:r>
              <a:endParaRPr lang="en-US" sz="1000" dirty="0" smtClean="0"/>
            </a:p>
            <a:p>
              <a:r>
                <a:rPr lang="en-US" sz="1000" dirty="0" err="1" smtClean="0"/>
                <a:t>Alteromonas</a:t>
              </a:r>
              <a:endParaRPr lang="en-US" sz="1000" dirty="0"/>
            </a:p>
            <a:p>
              <a:r>
                <a:rPr lang="en-US" sz="1000" dirty="0" err="1" smtClean="0"/>
                <a:t>Pelagibacteria</a:t>
              </a:r>
              <a:endParaRPr lang="en-US" sz="1000" dirty="0" smtClean="0"/>
            </a:p>
            <a:p>
              <a:r>
                <a:rPr lang="en-US" sz="1000" dirty="0" smtClean="0"/>
                <a:t>BCL21</a:t>
              </a:r>
              <a:endParaRPr lang="en-US" sz="1000" dirty="0"/>
            </a:p>
          </p:txBody>
        </p:sp>
        <p:sp>
          <p:nvSpPr>
            <p:cNvPr id="87" name="TextBox 86"/>
            <p:cNvSpPr txBox="1">
              <a:spLocks noChangeAspect="1"/>
            </p:cNvSpPr>
            <p:nvPr/>
          </p:nvSpPr>
          <p:spPr>
            <a:xfrm>
              <a:off x="5140244" y="3310210"/>
              <a:ext cx="1391430" cy="6144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smtClean="0"/>
                <a:t>UBA868</a:t>
              </a:r>
            </a:p>
            <a:p>
              <a:r>
                <a:rPr lang="en-US" sz="1000" dirty="0" smtClean="0"/>
                <a:t>GCA-2720195</a:t>
              </a:r>
              <a:endParaRPr lang="en-US" sz="1000" dirty="0"/>
            </a:p>
          </p:txBody>
        </p:sp>
        <p:sp>
          <p:nvSpPr>
            <p:cNvPr id="90" name="TextBox 89"/>
            <p:cNvSpPr txBox="1">
              <a:spLocks noChangeAspect="1"/>
            </p:cNvSpPr>
            <p:nvPr/>
          </p:nvSpPr>
          <p:spPr>
            <a:xfrm>
              <a:off x="2760392" y="1879425"/>
              <a:ext cx="950762" cy="567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smtClean="0"/>
                <a:t>UBA3470</a:t>
              </a:r>
            </a:p>
            <a:p>
              <a:r>
                <a:rPr lang="en-US" sz="900" dirty="0" smtClean="0"/>
                <a:t>UBA1014</a:t>
              </a:r>
              <a:endParaRPr lang="en-US" sz="900" dirty="0"/>
            </a:p>
          </p:txBody>
        </p:sp>
        <p:sp>
          <p:nvSpPr>
            <p:cNvPr id="91" name="TextBox 90"/>
            <p:cNvSpPr txBox="1">
              <a:spLocks noChangeAspect="1"/>
            </p:cNvSpPr>
            <p:nvPr/>
          </p:nvSpPr>
          <p:spPr>
            <a:xfrm>
              <a:off x="4357660" y="4895326"/>
              <a:ext cx="1312651" cy="13234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 smtClean="0"/>
                <a:t>Alteromonas</a:t>
              </a:r>
              <a:endParaRPr lang="en-US" sz="1000" dirty="0" smtClean="0"/>
            </a:p>
            <a:p>
              <a:r>
                <a:rPr lang="en-US" sz="1000" dirty="0" smtClean="0"/>
                <a:t>SP4260</a:t>
              </a:r>
            </a:p>
            <a:p>
              <a:r>
                <a:rPr lang="en-US" sz="1000" dirty="0" smtClean="0"/>
                <a:t>UBA9145</a:t>
              </a:r>
            </a:p>
            <a:p>
              <a:r>
                <a:rPr lang="en-US" sz="1000" dirty="0" smtClean="0"/>
                <a:t>MED-G52</a:t>
              </a:r>
            </a:p>
            <a:p>
              <a:r>
                <a:rPr lang="en-US" sz="1000" dirty="0" smtClean="0"/>
                <a:t>UBA8309</a:t>
              </a:r>
              <a:endParaRPr lang="en-US" sz="1000" dirty="0"/>
            </a:p>
          </p:txBody>
        </p:sp>
        <p:sp>
          <p:nvSpPr>
            <p:cNvPr id="92" name="TextBox 91"/>
            <p:cNvSpPr txBox="1">
              <a:spLocks noChangeAspect="1"/>
            </p:cNvSpPr>
            <p:nvPr/>
          </p:nvSpPr>
          <p:spPr>
            <a:xfrm>
              <a:off x="2956939" y="4151926"/>
              <a:ext cx="1187099" cy="709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/>
                <a:t>Med-G52</a:t>
              </a:r>
            </a:p>
            <a:p>
              <a:r>
                <a:rPr lang="en-US" sz="800" dirty="0" smtClean="0"/>
                <a:t>GCA00270545</a:t>
              </a:r>
            </a:p>
            <a:p>
              <a:r>
                <a:rPr lang="en-US" sz="800" dirty="0" smtClean="0"/>
                <a:t>TMED54</a:t>
              </a:r>
              <a:endParaRPr lang="en-US" sz="800" dirty="0"/>
            </a:p>
          </p:txBody>
        </p:sp>
        <p:sp>
          <p:nvSpPr>
            <p:cNvPr id="93" name="TextBox 92"/>
            <p:cNvSpPr txBox="1">
              <a:spLocks noChangeAspect="1"/>
            </p:cNvSpPr>
            <p:nvPr/>
          </p:nvSpPr>
          <p:spPr>
            <a:xfrm>
              <a:off x="3113619" y="3538735"/>
              <a:ext cx="1324962" cy="5199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 smtClean="0"/>
                <a:t>Mesonia</a:t>
              </a:r>
              <a:endParaRPr lang="en-US" sz="800" dirty="0" smtClean="0"/>
            </a:p>
            <a:p>
              <a:r>
                <a:rPr lang="en-US" sz="800" dirty="0" err="1" smtClean="0"/>
                <a:t>Mesoflavibacter</a:t>
              </a:r>
              <a:endParaRPr lang="en-US" sz="800" dirty="0" smtClean="0"/>
            </a:p>
          </p:txBody>
        </p:sp>
        <p:sp>
          <p:nvSpPr>
            <p:cNvPr id="100" name="TextBox 99"/>
            <p:cNvSpPr txBox="1">
              <a:spLocks noChangeAspect="1"/>
            </p:cNvSpPr>
            <p:nvPr/>
          </p:nvSpPr>
          <p:spPr>
            <a:xfrm>
              <a:off x="3055933" y="2469841"/>
              <a:ext cx="1294563" cy="898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err="1" smtClean="0"/>
                <a:t>Halomonas</a:t>
              </a:r>
              <a:endParaRPr lang="en-US" sz="800" dirty="0" smtClean="0"/>
            </a:p>
            <a:p>
              <a:r>
                <a:rPr lang="en-US" sz="800" dirty="0" err="1" smtClean="0"/>
                <a:t>Salipige</a:t>
              </a:r>
              <a:endParaRPr lang="en-US" sz="800" dirty="0" smtClean="0"/>
            </a:p>
            <a:p>
              <a:r>
                <a:rPr lang="en-US" sz="800" dirty="0" smtClean="0"/>
                <a:t>UBA7795</a:t>
              </a:r>
            </a:p>
            <a:p>
              <a:r>
                <a:rPr lang="en-US" sz="800" dirty="0" err="1" smtClean="0"/>
                <a:t>Marinobacter</a:t>
              </a:r>
              <a:endParaRPr lang="en-US" sz="800" dirty="0" smtClean="0"/>
            </a:p>
          </p:txBody>
        </p:sp>
        <p:sp>
          <p:nvSpPr>
            <p:cNvPr id="111" name="TextBox 110"/>
            <p:cNvSpPr txBox="1">
              <a:spLocks noChangeAspect="1"/>
            </p:cNvSpPr>
            <p:nvPr/>
          </p:nvSpPr>
          <p:spPr>
            <a:xfrm>
              <a:off x="1673185" y="2853987"/>
              <a:ext cx="876907" cy="5199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/>
                <a:t>UBA3470</a:t>
              </a:r>
            </a:p>
            <a:p>
              <a:r>
                <a:rPr lang="en-US" sz="800" dirty="0" smtClean="0"/>
                <a:t>UBA1014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9652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24440</TotalTime>
  <Words>282</Words>
  <Application>Microsoft Macintosh PowerPoint</Application>
  <PresentationFormat>Widescreen</PresentationFormat>
  <Paragraphs>186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296</cp:revision>
  <cp:lastPrinted>2021-07-30T09:39:30Z</cp:lastPrinted>
  <dcterms:created xsi:type="dcterms:W3CDTF">2021-07-30T08:01:14Z</dcterms:created>
  <dcterms:modified xsi:type="dcterms:W3CDTF">2026-01-30T02:42:38Z</dcterms:modified>
</cp:coreProperties>
</file>